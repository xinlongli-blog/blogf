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0" r:id="rId5"/>
    <p:sldId id="265" r:id="rId6"/>
    <p:sldId id="264" r:id="rId7"/>
    <p:sldId id="263" r:id="rId8"/>
    <p:sldId id="262" r:id="rId9"/>
    <p:sldId id="261" r:id="rId10"/>
    <p:sldId id="272" r:id="rId11"/>
    <p:sldId id="271" r:id="rId12"/>
    <p:sldId id="270" r:id="rId13"/>
    <p:sldId id="269" r:id="rId14"/>
    <p:sldId id="268" r:id="rId15"/>
    <p:sldId id="267" r:id="rId16"/>
    <p:sldId id="285" r:id="rId17"/>
    <p:sldId id="286" r:id="rId18"/>
    <p:sldId id="281" r:id="rId19"/>
    <p:sldId id="279" r:id="rId20"/>
    <p:sldId id="280" r:id="rId21"/>
    <p:sldId id="278" r:id="rId22"/>
    <p:sldId id="282" r:id="rId23"/>
    <p:sldId id="275" r:id="rId24"/>
    <p:sldId id="284" r:id="rId25"/>
    <p:sldId id="276" r:id="rId26"/>
    <p:sldId id="274" r:id="rId27"/>
    <p:sldId id="287" r:id="rId28"/>
    <p:sldId id="277" r:id="rId29"/>
    <p:sldId id="273" r:id="rId30"/>
    <p:sldId id="288" r:id="rId31"/>
    <p:sldId id="289" r:id="rId32"/>
    <p:sldId id="290" r:id="rId33"/>
    <p:sldId id="292" r:id="rId34"/>
    <p:sldId id="291" r:id="rId35"/>
    <p:sldId id="283" r:id="rId36"/>
    <p:sldId id="259" r:id="rId37"/>
  </p:sldIdLst>
  <p:sldSz cx="6858000" cy="5143500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42" autoAdjust="0"/>
    <p:restoredTop sz="94718"/>
  </p:normalViewPr>
  <p:slideViewPr>
    <p:cSldViewPr>
      <p:cViewPr varScale="1">
        <p:scale>
          <a:sx n="115" d="100"/>
          <a:sy n="115" d="100"/>
        </p:scale>
        <p:origin x="1248" y="102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7822"/>
            <a:ext cx="58293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70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53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8"/>
            <a:ext cx="5829300" cy="1021556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12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1200153"/>
            <a:ext cx="3028950" cy="3394472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1200153"/>
            <a:ext cx="3028950" cy="3394472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099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1" y="1151335"/>
            <a:ext cx="3031331" cy="47982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1" y="1631156"/>
            <a:ext cx="3031331" cy="2963466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74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13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31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2" y="204787"/>
            <a:ext cx="2256235" cy="8715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91"/>
            <a:ext cx="3833813" cy="4389835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2" y="1076328"/>
            <a:ext cx="2256235" cy="3518297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6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504"/>
            <a:ext cx="4114800" cy="603647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49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17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205981"/>
            <a:ext cx="154305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205981"/>
            <a:ext cx="451485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02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200153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42900" y="4767265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57FBD-2106-4D8C-A9BA-A1F515BBB9D0}" type="datetimeFigureOut">
              <a:rPr lang="zh-CN" altLang="en-US" smtClean="0"/>
              <a:t>2015/11/21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343150" y="4767265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914900" y="4767265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20FF0-85E2-44A0-B9F9-8AE0A887B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89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5763" rtl="0" eaLnBrk="1" latinLnBrk="0" hangingPunct="1"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661" indent="-14466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13433" indent="-120551" algn="l" defTabSz="3857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–"/>
        <a:defRPr sz="844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»"/>
        <a:defRPr sz="844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7227" y="3416101"/>
            <a:ext cx="2245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何登成</a:t>
            </a:r>
            <a:endParaRPr kumimoji="1" lang="zh-CN" altLang="en-US" sz="1400" b="1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0729" y="3939902"/>
            <a:ext cx="4176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管中窥豹 </a:t>
            </a:r>
            <a:r>
              <a:rPr kumimoji="1" lang="en-US" altLang="zh-CN" sz="1400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——MySQL/</a:t>
            </a:r>
            <a:r>
              <a:rPr kumimoji="1" lang="en-US" altLang="zh-CN" sz="1400" b="1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InnoDB</a:t>
            </a:r>
            <a:r>
              <a:rPr kumimoji="1" lang="zh-CN" altLang="en-US" sz="1400" b="1" smtClean="0">
                <a:latin typeface="Hiragino Sans GB W3" charset="-122"/>
                <a:ea typeface="Hiragino Sans GB W3" charset="-122"/>
                <a:cs typeface="Hiragino Sans GB W3" charset="-122"/>
              </a:rPr>
              <a:t>死锁分析之道</a:t>
            </a:r>
            <a:endParaRPr kumimoji="1" lang="zh-CN" altLang="en-US" sz="1400" b="1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76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5783" y="772951"/>
            <a:ext cx="1189121" cy="35863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4425" y="1275606"/>
            <a:ext cx="4629150" cy="3240361"/>
          </a:xfrm>
        </p:spPr>
        <p:txBody>
          <a:bodyPr>
            <a:normAutofit/>
          </a:bodyPr>
          <a:lstStyle/>
          <a:p>
            <a:r>
              <a:rPr lang="zh-CN" altLang="en-US" sz="1600" dirty="0" smtClean="0"/>
              <a:t>为什么选择“死锁”？</a:t>
            </a:r>
            <a:endParaRPr lang="en-US" altLang="zh-CN" sz="1600" dirty="0"/>
          </a:p>
          <a:p>
            <a:r>
              <a:rPr lang="zh-CN" altLang="en-US" sz="1600" b="1" dirty="0"/>
              <a:t>基础</a:t>
            </a:r>
            <a:r>
              <a:rPr lang="zh-CN" altLang="en-US" sz="1600" b="1" dirty="0" smtClean="0"/>
              <a:t>篇</a:t>
            </a:r>
            <a:endParaRPr lang="en-US" altLang="zh-CN" sz="1600" b="1" dirty="0" smtClean="0"/>
          </a:p>
          <a:p>
            <a:pPr lvl="1"/>
            <a:r>
              <a:rPr lang="zh-CN" altLang="en-US" sz="1400" dirty="0" smtClean="0"/>
              <a:t>为什么要加锁？</a:t>
            </a:r>
            <a:endParaRPr lang="en-US" altLang="zh-CN" sz="1400" dirty="0" smtClean="0"/>
          </a:p>
          <a:p>
            <a:pPr lvl="1"/>
            <a:r>
              <a:rPr lang="zh-CN" altLang="en-US" sz="1400" dirty="0" smtClean="0"/>
              <a:t>锁的持有周期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锁</a:t>
            </a:r>
            <a:r>
              <a:rPr lang="zh-CN" altLang="en-US" sz="1400" dirty="0" smtClean="0"/>
              <a:t>粒度</a:t>
            </a:r>
            <a:endParaRPr lang="en-US" altLang="zh-CN" sz="1400" dirty="0" smtClean="0"/>
          </a:p>
          <a:p>
            <a:pPr lvl="1"/>
            <a:r>
              <a:rPr lang="zh-CN" altLang="en-US" sz="1400" dirty="0" smtClean="0"/>
              <a:t>死锁产生的原因</a:t>
            </a:r>
            <a:endParaRPr lang="en-US" altLang="zh-CN" sz="1400" dirty="0"/>
          </a:p>
          <a:p>
            <a:r>
              <a:rPr lang="en-US" altLang="zh-CN" sz="1600" b="1" dirty="0" smtClean="0"/>
              <a:t>MySQL</a:t>
            </a:r>
            <a:r>
              <a:rPr lang="zh-CN" altLang="en-US" sz="1600" b="1" dirty="0" smtClean="0"/>
              <a:t>篇</a:t>
            </a:r>
            <a:endParaRPr lang="en-US" altLang="zh-CN" sz="1600" b="1" dirty="0" smtClean="0"/>
          </a:p>
          <a:p>
            <a:pPr lvl="1"/>
            <a:r>
              <a:rPr lang="zh-CN" altLang="en-US" sz="1400" dirty="0" smtClean="0"/>
              <a:t>哪些操作会加锁？</a:t>
            </a:r>
            <a:endParaRPr lang="en-US" altLang="zh-CN" sz="1400" dirty="0" smtClean="0"/>
          </a:p>
          <a:p>
            <a:pPr lvl="1"/>
            <a:r>
              <a:rPr lang="zh-CN" altLang="en-US" sz="1400" dirty="0" smtClean="0"/>
              <a:t>锁模式</a:t>
            </a:r>
            <a:endParaRPr lang="en-US" altLang="zh-CN" sz="1400" dirty="0"/>
          </a:p>
          <a:p>
            <a:r>
              <a:rPr lang="zh-CN" altLang="en-US" sz="1600" b="1" dirty="0"/>
              <a:t>实战</a:t>
            </a:r>
            <a:r>
              <a:rPr lang="zh-CN" altLang="en-US" sz="1600" b="1" dirty="0" smtClean="0"/>
              <a:t>篇</a:t>
            </a:r>
            <a:endParaRPr lang="en-US" altLang="zh-CN" sz="1600" b="1" dirty="0"/>
          </a:p>
          <a:p>
            <a:pPr lvl="1"/>
            <a:r>
              <a:rPr lang="zh-CN" altLang="en-US" sz="1400" dirty="0" smtClean="0"/>
              <a:t>死锁案例</a:t>
            </a:r>
            <a:r>
              <a:rPr lang="en-US" altLang="zh-CN" sz="1400" dirty="0" smtClean="0"/>
              <a:t>123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44691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个人简介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何登成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smtClean="0"/>
              <a:t>阿里巴巴高级数据库专家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个人微博：</a:t>
            </a:r>
            <a:r>
              <a:rPr lang="en-US" altLang="zh-CN" dirty="0" smtClean="0"/>
              <a:t>@</a:t>
            </a:r>
            <a:r>
              <a:rPr lang="zh-CN" altLang="en-US" dirty="0" smtClean="0"/>
              <a:t>何</a:t>
            </a:r>
            <a:r>
              <a:rPr lang="en-US" altLang="zh-CN" dirty="0" smtClean="0"/>
              <a:t>_</a:t>
            </a:r>
            <a:r>
              <a:rPr lang="zh-CN" altLang="en-US" dirty="0" smtClean="0"/>
              <a:t>登成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个人博客：</a:t>
            </a:r>
            <a:r>
              <a:rPr lang="en-US" altLang="zh-CN" dirty="0" smtClean="0"/>
              <a:t>http://hedengcheng.com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03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为什么选择“死锁”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600" b="1" dirty="0" smtClean="0"/>
              <a:t>我可以选择的话题</a:t>
            </a:r>
            <a:endParaRPr lang="en-US" altLang="zh-CN" sz="1600" b="1" dirty="0" smtClean="0"/>
          </a:p>
          <a:p>
            <a:pPr lvl="1"/>
            <a:r>
              <a:rPr lang="zh-CN" altLang="en-US" sz="1600" dirty="0" smtClean="0"/>
              <a:t>双</a:t>
            </a:r>
            <a:r>
              <a:rPr lang="en-US" altLang="zh-CN" sz="1600" dirty="0" smtClean="0"/>
              <a:t>11</a:t>
            </a:r>
          </a:p>
          <a:p>
            <a:pPr lvl="1"/>
            <a:r>
              <a:rPr lang="zh-CN" altLang="en-US" sz="1600" dirty="0"/>
              <a:t>异地多</a:t>
            </a:r>
            <a:r>
              <a:rPr lang="zh-CN" altLang="en-US" sz="1600" dirty="0" smtClean="0"/>
              <a:t>活</a:t>
            </a:r>
            <a:endParaRPr lang="en-US" altLang="zh-CN" sz="1600" dirty="0" smtClean="0"/>
          </a:p>
          <a:p>
            <a:pPr lvl="1"/>
            <a:r>
              <a:rPr lang="en-US" altLang="zh-CN" sz="1600" dirty="0" err="1" smtClean="0"/>
              <a:t>OceanBase</a:t>
            </a:r>
            <a:endParaRPr lang="en-US" altLang="zh-CN" sz="1600" dirty="0" smtClean="0"/>
          </a:p>
          <a:p>
            <a:pPr lvl="1"/>
            <a:r>
              <a:rPr lang="en-US" altLang="zh-CN" sz="1600" dirty="0" err="1" smtClean="0"/>
              <a:t>AliSQL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Alibaba MySQL </a:t>
            </a:r>
            <a:r>
              <a:rPr lang="zh-CN" altLang="en-US" sz="1600" dirty="0" smtClean="0"/>
              <a:t>分支）</a:t>
            </a:r>
            <a:endParaRPr lang="en-US" altLang="zh-CN" sz="1600" dirty="0" smtClean="0"/>
          </a:p>
          <a:p>
            <a:pPr lvl="1"/>
            <a:r>
              <a:rPr lang="zh-CN" altLang="en-US" sz="1600" dirty="0" smtClean="0"/>
              <a:t>阿里巴巴数据库最佳实践</a:t>
            </a:r>
            <a:endParaRPr lang="en-US" altLang="zh-CN" sz="1600" dirty="0"/>
          </a:p>
          <a:p>
            <a:pPr lvl="1"/>
            <a:r>
              <a:rPr lang="en-US" altLang="zh-CN" sz="1600" dirty="0" smtClean="0"/>
              <a:t>… …</a:t>
            </a:r>
          </a:p>
          <a:p>
            <a:pPr lvl="1"/>
            <a:endParaRPr lang="en-US" altLang="zh-CN" sz="1600" dirty="0" smtClean="0"/>
          </a:p>
          <a:p>
            <a:r>
              <a:rPr lang="zh-CN" altLang="en-US" sz="1600" b="1" dirty="0" smtClean="0"/>
              <a:t>但是，我选择了这个话题</a:t>
            </a:r>
            <a:endParaRPr lang="en-US" altLang="zh-CN" sz="1600" b="1" dirty="0" smtClean="0"/>
          </a:p>
          <a:p>
            <a:pPr lvl="1"/>
            <a:r>
              <a:rPr lang="zh-CN" altLang="en-US" sz="1600" dirty="0" smtClean="0"/>
              <a:t>死锁，</a:t>
            </a:r>
            <a:r>
              <a:rPr lang="en-US" altLang="zh-CN" sz="1600" dirty="0" smtClean="0"/>
              <a:t>Why</a:t>
            </a:r>
            <a:r>
              <a:rPr lang="zh-CN" altLang="en-US" sz="1600" dirty="0" smtClean="0"/>
              <a:t>？？？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8000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为什么选择“死锁”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00153"/>
            <a:ext cx="1933972" cy="3394472"/>
          </a:xfrm>
        </p:spPr>
        <p:txBody>
          <a:bodyPr>
            <a:normAutofit/>
          </a:bodyPr>
          <a:lstStyle/>
          <a:p>
            <a:r>
              <a:rPr lang="zh-CN" altLang="en-US" sz="1400" dirty="0" smtClean="0"/>
              <a:t>首先，本人自封为“死锁小王子”</a:t>
            </a:r>
            <a:r>
              <a:rPr lang="zh-CN" altLang="en-US" sz="1400" dirty="0" smtClean="0">
                <a:sym typeface="Wingdings" panose="05000000000000000000" pitchFamily="2" charset="2"/>
              </a:rPr>
              <a:t></a:t>
            </a:r>
            <a:endParaRPr lang="en-US" altLang="zh-CN" sz="1400" dirty="0" smtClean="0"/>
          </a:p>
          <a:p>
            <a:pPr lvl="1"/>
            <a:endParaRPr lang="en-US" altLang="zh-CN" sz="1200" dirty="0" smtClean="0"/>
          </a:p>
          <a:p>
            <a:r>
              <a:rPr lang="zh-CN" altLang="en-US" sz="1400" dirty="0" smtClean="0"/>
              <a:t>但更重要的是，死锁“血泪史”</a:t>
            </a:r>
            <a:endParaRPr lang="en-US" altLang="zh-CN" sz="1400" dirty="0" smtClean="0"/>
          </a:p>
          <a:p>
            <a:pPr lvl="1"/>
            <a:r>
              <a:rPr lang="zh-CN" altLang="en-US" sz="1200" dirty="0"/>
              <a:t>公司</a:t>
            </a:r>
            <a:r>
              <a:rPr lang="zh-CN" altLang="en-US" sz="1200" dirty="0" smtClean="0"/>
              <a:t>内，帮助多个业务线解决死锁问题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 smtClean="0"/>
              <a:t>公司外部，很多朋友也在找我讨论</a:t>
            </a:r>
            <a:r>
              <a:rPr lang="en-US" altLang="zh-CN" sz="1200" dirty="0" smtClean="0"/>
              <a:t>MySQL</a:t>
            </a:r>
            <a:r>
              <a:rPr lang="zh-CN" altLang="en-US" sz="1200" dirty="0" smtClean="0"/>
              <a:t>死锁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 smtClean="0"/>
              <a:t>死锁分析，是</a:t>
            </a:r>
            <a:r>
              <a:rPr lang="en-US" altLang="zh-CN" sz="1200" dirty="0" smtClean="0"/>
              <a:t>MySQL DBA</a:t>
            </a:r>
            <a:r>
              <a:rPr lang="zh-CN" altLang="en-US" sz="1200" dirty="0" smtClean="0"/>
              <a:t>的一个不可承受之重</a:t>
            </a:r>
            <a:r>
              <a:rPr lang="zh-CN" altLang="en-US" sz="1200" dirty="0" smtClean="0">
                <a:sym typeface="Wingdings" panose="05000000000000000000" pitchFamily="2" charset="2"/>
              </a:rPr>
              <a:t>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1275606"/>
            <a:ext cx="4086225" cy="3448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24" y="2067694"/>
            <a:ext cx="3352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8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基础篇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本篇介绍的内容，是对所有数据库均通用的，是分析死锁的基础</a:t>
            </a:r>
            <a:endParaRPr lang="en-US" altLang="zh-CN" sz="1800" dirty="0" smtClean="0"/>
          </a:p>
          <a:p>
            <a:pPr lvl="1"/>
            <a:endParaRPr lang="en-US" altLang="zh-CN" sz="1631" dirty="0" smtClean="0"/>
          </a:p>
          <a:p>
            <a:r>
              <a:rPr lang="zh-CN" altLang="en-US" sz="1800" b="1" dirty="0"/>
              <a:t>本</a:t>
            </a:r>
            <a:r>
              <a:rPr lang="zh-CN" altLang="en-US" sz="1800" b="1" dirty="0" smtClean="0"/>
              <a:t>篇内容大纲</a:t>
            </a:r>
            <a:endParaRPr lang="en-US" altLang="zh-CN" sz="1800" b="1" dirty="0" smtClean="0"/>
          </a:p>
          <a:p>
            <a:pPr lvl="1"/>
            <a:r>
              <a:rPr lang="zh-CN" altLang="en-US" sz="1600" dirty="0"/>
              <a:t>为什么要加锁？</a:t>
            </a:r>
            <a:endParaRPr lang="en-US" altLang="zh-CN" sz="1600" dirty="0"/>
          </a:p>
          <a:p>
            <a:pPr lvl="1"/>
            <a:r>
              <a:rPr lang="zh-CN" altLang="en-US" sz="1600" dirty="0"/>
              <a:t>锁的持有周期</a:t>
            </a:r>
            <a:endParaRPr lang="en-US" altLang="zh-CN" sz="1600" dirty="0"/>
          </a:p>
          <a:p>
            <a:pPr lvl="1"/>
            <a:r>
              <a:rPr lang="zh-CN" altLang="en-US" sz="1600" dirty="0"/>
              <a:t>锁粒度</a:t>
            </a:r>
            <a:endParaRPr lang="en-US" altLang="zh-CN" sz="1600" dirty="0"/>
          </a:p>
          <a:p>
            <a:pPr lvl="1"/>
            <a:r>
              <a:rPr lang="zh-CN" altLang="en-US" sz="1600" dirty="0"/>
              <a:t>死锁产生的原因</a:t>
            </a:r>
            <a:endParaRPr lang="en-US" altLang="zh-CN" sz="1600" dirty="0"/>
          </a:p>
          <a:p>
            <a:pPr lvl="1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5913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基础篇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为什么要加锁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00152"/>
            <a:ext cx="6172200" cy="3531837"/>
          </a:xfrm>
        </p:spPr>
        <p:txBody>
          <a:bodyPr>
            <a:noAutofit/>
          </a:bodyPr>
          <a:lstStyle/>
          <a:p>
            <a:r>
              <a:rPr lang="zh-CN" altLang="en-US" sz="1400" b="1" dirty="0" smtClean="0"/>
              <a:t>此锁非彼锁</a:t>
            </a:r>
            <a:endParaRPr lang="en-US" altLang="zh-CN" sz="1400" b="1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 smtClean="0"/>
          </a:p>
          <a:p>
            <a:pPr marL="0" indent="0">
              <a:buNone/>
            </a:pPr>
            <a:endParaRPr lang="en-US" altLang="zh-CN" sz="1400" dirty="0" smtClean="0"/>
          </a:p>
          <a:p>
            <a:endParaRPr lang="en-US" altLang="zh-CN" sz="1400" b="1" dirty="0" smtClean="0"/>
          </a:p>
          <a:p>
            <a:r>
              <a:rPr lang="zh-CN" altLang="en-US" sz="1400" b="1" dirty="0" smtClean="0"/>
              <a:t>数据库中的锁</a:t>
            </a:r>
            <a:endParaRPr lang="en-US" altLang="zh-CN" sz="1400" b="1" dirty="0" smtClean="0"/>
          </a:p>
          <a:p>
            <a:pPr lvl="1"/>
            <a:r>
              <a:rPr lang="zh-CN" altLang="en-US" sz="1400" b="1" dirty="0" smtClean="0">
                <a:solidFill>
                  <a:srgbClr val="FF0000"/>
                </a:solidFill>
              </a:rPr>
              <a:t>确保并发更新场景下的数据正确性</a:t>
            </a:r>
            <a:endParaRPr lang="en-US" altLang="zh-CN" sz="1400" b="1" dirty="0" smtClean="0">
              <a:solidFill>
                <a:srgbClr val="FF0000"/>
              </a:solidFill>
            </a:endParaRPr>
          </a:p>
          <a:p>
            <a:pPr lvl="1"/>
            <a:endParaRPr lang="en-US" altLang="zh-CN" sz="1400" dirty="0"/>
          </a:p>
          <a:p>
            <a:pPr lvl="1"/>
            <a:r>
              <a:rPr lang="zh-CN" altLang="en-US" sz="1400" dirty="0" smtClean="0">
                <a:solidFill>
                  <a:srgbClr val="FF0000"/>
                </a:solidFill>
              </a:rPr>
              <a:t>常见的并发更新</a:t>
            </a:r>
            <a:r>
              <a:rPr lang="zh-CN" altLang="en-US" sz="1400" dirty="0" smtClean="0"/>
              <a:t>：商品减库存、消息产生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消费</a:t>
            </a:r>
            <a:endParaRPr lang="en-US" altLang="zh-CN" sz="1400" dirty="0"/>
          </a:p>
          <a:p>
            <a:endParaRPr lang="en-US" altLang="zh-CN" sz="1400" dirty="0" smtClean="0"/>
          </a:p>
          <a:p>
            <a:r>
              <a:rPr lang="en-US" altLang="zh-CN" sz="1400" dirty="0" smtClean="0"/>
              <a:t>ACID</a:t>
            </a:r>
            <a:r>
              <a:rPr lang="zh-CN" altLang="en-US" sz="1400" dirty="0" smtClean="0"/>
              <a:t>中的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（</a:t>
            </a:r>
            <a:r>
              <a:rPr lang="en-US" altLang="zh-CN" sz="1400" dirty="0" smtClean="0"/>
              <a:t>Isolation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808" y="1347614"/>
            <a:ext cx="24479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6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566"/>
            <a:ext cx="3368589" cy="27211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基础篇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锁的持有周期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51212" y="987574"/>
            <a:ext cx="3590156" cy="3960439"/>
          </a:xfrm>
        </p:spPr>
        <p:txBody>
          <a:bodyPr>
            <a:noAutofit/>
          </a:bodyPr>
          <a:lstStyle/>
          <a:p>
            <a:endParaRPr lang="en-US" altLang="zh-CN" sz="1400" b="1" dirty="0" smtClean="0"/>
          </a:p>
          <a:p>
            <a:endParaRPr lang="en-US" altLang="zh-CN" sz="1400" b="1" dirty="0"/>
          </a:p>
          <a:p>
            <a:endParaRPr lang="en-US" altLang="zh-CN" sz="1400" b="1" dirty="0" smtClean="0"/>
          </a:p>
          <a:p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 smtClean="0"/>
              <a:t>实际情况是</a:t>
            </a:r>
            <a:endParaRPr lang="en-US" altLang="zh-CN" sz="1400" b="1" dirty="0" smtClean="0"/>
          </a:p>
          <a:p>
            <a:pPr lvl="1"/>
            <a:r>
              <a:rPr lang="zh-CN" altLang="en-US" sz="1400" b="1" dirty="0" smtClean="0"/>
              <a:t>加锁</a:t>
            </a:r>
            <a:r>
              <a:rPr lang="zh-CN" altLang="en-US" sz="1400" dirty="0" smtClean="0"/>
              <a:t>：实际访问到某个待更新的行时，对其加锁（而非一开始就将所有的锁都一次性持有）</a:t>
            </a:r>
            <a:endParaRPr lang="en-US" altLang="zh-CN" sz="1400" dirty="0" smtClean="0"/>
          </a:p>
          <a:p>
            <a:pPr lvl="1"/>
            <a:endParaRPr lang="en-US" altLang="zh-CN" sz="1400" dirty="0" smtClean="0"/>
          </a:p>
          <a:p>
            <a:pPr lvl="1"/>
            <a:r>
              <a:rPr lang="zh-CN" altLang="en-US" sz="1400" b="1" dirty="0" smtClean="0"/>
              <a:t>解锁</a:t>
            </a:r>
            <a:r>
              <a:rPr lang="zh-CN" altLang="en-US" sz="1400" dirty="0" smtClean="0"/>
              <a:t>：事务提交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回滚时（而非语句结束时就释放）</a:t>
            </a:r>
            <a:endParaRPr lang="en-US" altLang="zh-CN" sz="1400" dirty="0" smtClean="0"/>
          </a:p>
          <a:p>
            <a:pPr lvl="1"/>
            <a:endParaRPr lang="en-US" altLang="zh-CN" sz="1400" dirty="0"/>
          </a:p>
          <a:p>
            <a:r>
              <a:rPr lang="zh-CN" altLang="en-US" sz="1400" b="1" dirty="0" smtClean="0"/>
              <a:t>原则之一</a:t>
            </a:r>
            <a:endParaRPr lang="en-US" altLang="zh-CN" sz="1400" b="1" dirty="0" smtClean="0"/>
          </a:p>
          <a:p>
            <a:pPr lvl="1"/>
            <a:r>
              <a:rPr lang="zh-CN" altLang="en-US" sz="1400" dirty="0"/>
              <a:t>要</a:t>
            </a:r>
            <a:r>
              <a:rPr lang="zh-CN" altLang="en-US" sz="1400" dirty="0" smtClean="0"/>
              <a:t>分析一个死锁，</a:t>
            </a:r>
            <a:r>
              <a:rPr lang="zh-CN" altLang="en-US" sz="1400" dirty="0" smtClean="0">
                <a:solidFill>
                  <a:srgbClr val="FF0000"/>
                </a:solidFill>
              </a:rPr>
              <a:t>必须深入业务，了解整个事务的逻辑</a:t>
            </a:r>
            <a:r>
              <a:rPr lang="zh-CN" altLang="en-US" sz="1400" dirty="0" smtClean="0"/>
              <a:t>（闭门无法造车）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8540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33736">
            <a:off x="2924067" y="626657"/>
            <a:ext cx="3174603" cy="31746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锁粒度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00152"/>
            <a:ext cx="3590156" cy="3603845"/>
          </a:xfrm>
        </p:spPr>
        <p:txBody>
          <a:bodyPr>
            <a:noAutofit/>
          </a:bodyPr>
          <a:lstStyle/>
          <a:p>
            <a:r>
              <a:rPr lang="zh-CN" altLang="en-US" sz="1200" dirty="0" smtClean="0"/>
              <a:t>试想一个场景</a:t>
            </a:r>
            <a:endParaRPr lang="en-US" altLang="zh-CN" sz="1200" dirty="0" smtClean="0"/>
          </a:p>
          <a:p>
            <a:pPr lvl="1"/>
            <a:r>
              <a:rPr lang="zh-CN" altLang="en-US" sz="1200" dirty="0" smtClean="0"/>
              <a:t>如果我要去图书馆里借一本</a:t>
            </a:r>
            <a:r>
              <a:rPr lang="en-US" altLang="zh-CN" sz="1200" dirty="0" smtClean="0"/>
              <a:t>《</a:t>
            </a:r>
            <a:r>
              <a:rPr lang="zh-CN" altLang="en-US" sz="1200" dirty="0" smtClean="0"/>
              <a:t>高性能</a:t>
            </a:r>
            <a:r>
              <a:rPr lang="en-US" altLang="zh-CN" sz="1200" dirty="0" smtClean="0"/>
              <a:t>MySQL》</a:t>
            </a:r>
            <a:r>
              <a:rPr lang="zh-CN" altLang="en-US" sz="1200" dirty="0" smtClean="0"/>
              <a:t>，为了防止有人提前把这本书给借走了，我可以提前进行预约（加锁），这把锁可以怎么加？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1</a:t>
            </a:r>
            <a:r>
              <a:rPr lang="zh-CN" altLang="en-US" sz="1200" dirty="0" smtClean="0"/>
              <a:t>、封锁图书馆（肯定被打死 </a:t>
            </a:r>
            <a:r>
              <a:rPr lang="en-US" altLang="zh-CN" sz="1200" dirty="0" smtClean="0"/>
              <a:t>——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数据库级别的锁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2</a:t>
            </a:r>
            <a:r>
              <a:rPr lang="zh-CN" altLang="en-US" sz="1200" dirty="0" smtClean="0"/>
              <a:t>、把数据库相关的书都锁住</a:t>
            </a:r>
            <a:r>
              <a:rPr lang="en-US" altLang="zh-CN" sz="1200" dirty="0" smtClean="0"/>
              <a:t>——</a:t>
            </a:r>
            <a:r>
              <a:rPr lang="zh-CN" altLang="en-US" sz="1200" b="1" dirty="0" smtClean="0"/>
              <a:t>表级别的锁</a:t>
            </a:r>
            <a:endParaRPr lang="en-US" altLang="zh-CN" sz="1200" b="1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3</a:t>
            </a:r>
            <a:r>
              <a:rPr lang="zh-CN" altLang="en-US" sz="1200" dirty="0" smtClean="0"/>
              <a:t>、只锁</a:t>
            </a:r>
            <a:r>
              <a:rPr lang="en-US" altLang="zh-CN" sz="1200" dirty="0" smtClean="0"/>
              <a:t>MySQL</a:t>
            </a:r>
            <a:r>
              <a:rPr lang="zh-CN" altLang="en-US" sz="1200" dirty="0" smtClean="0"/>
              <a:t>相关的书 </a:t>
            </a:r>
            <a:r>
              <a:rPr lang="en-US" altLang="zh-CN" sz="1200" dirty="0" smtClean="0"/>
              <a:t>——</a:t>
            </a:r>
            <a:r>
              <a:rPr lang="zh-CN" altLang="en-US" sz="1200" b="1" dirty="0" smtClean="0"/>
              <a:t>页级别的锁</a:t>
            </a:r>
            <a:endParaRPr lang="en-US" altLang="zh-CN" sz="1200" b="1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4</a:t>
            </a:r>
            <a:r>
              <a:rPr lang="zh-CN" altLang="en-US" sz="1200" dirty="0" smtClean="0"/>
              <a:t>、或者干脆只锁</a:t>
            </a:r>
            <a:r>
              <a:rPr lang="en-US" altLang="zh-CN" sz="1200" dirty="0" smtClean="0"/>
              <a:t>《</a:t>
            </a:r>
            <a:r>
              <a:rPr lang="zh-CN" altLang="en-US" sz="1200" dirty="0" smtClean="0"/>
              <a:t>高性能</a:t>
            </a:r>
            <a:r>
              <a:rPr lang="en-US" altLang="zh-CN" sz="1200" dirty="0" smtClean="0"/>
              <a:t>MySQL》</a:t>
            </a:r>
            <a:r>
              <a:rPr lang="zh-CN" altLang="en-US" sz="1200" dirty="0" smtClean="0"/>
              <a:t>这本书 </a:t>
            </a:r>
            <a:r>
              <a:rPr lang="en-US" altLang="zh-CN" sz="1200" dirty="0" smtClean="0"/>
              <a:t>——</a:t>
            </a:r>
            <a:r>
              <a:rPr lang="zh-CN" altLang="en-US" sz="1200" b="1" dirty="0" smtClean="0"/>
              <a:t>行级别的锁</a:t>
            </a:r>
            <a:endParaRPr lang="en-US" altLang="zh-CN" sz="1200" b="1" dirty="0" smtClean="0"/>
          </a:p>
          <a:p>
            <a:pPr lvl="1"/>
            <a:endParaRPr lang="en-US" altLang="zh-CN" sz="1200" dirty="0"/>
          </a:p>
          <a:p>
            <a:r>
              <a:rPr lang="zh-CN" altLang="en-US" sz="1200" dirty="0" smtClean="0"/>
              <a:t>锁的粒度越细，并发级别越高（实现也更复杂）</a:t>
            </a:r>
            <a:endParaRPr lang="en-US" altLang="zh-CN" sz="1200" dirty="0" smtClean="0"/>
          </a:p>
          <a:p>
            <a:pPr lvl="1"/>
            <a:r>
              <a:rPr lang="zh-CN" altLang="en-US" sz="1200" b="1" dirty="0" smtClean="0">
                <a:solidFill>
                  <a:srgbClr val="FF0000"/>
                </a:solidFill>
              </a:rPr>
              <a:t>传统关系型数据库，都实现了行级别的锁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2085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基础篇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为什么会产生死锁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00153"/>
            <a:ext cx="6172200" cy="3394472"/>
          </a:xfrm>
        </p:spPr>
        <p:txBody>
          <a:bodyPr>
            <a:no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</a:rPr>
              <a:t>常见的场景  </a:t>
            </a:r>
            <a:r>
              <a:rPr lang="en-US" altLang="zh-CN" sz="1200" b="1" dirty="0" smtClean="0">
                <a:sym typeface="Wingdings" panose="05000000000000000000" pitchFamily="2" charset="2"/>
              </a:rPr>
              <a:t></a:t>
            </a:r>
            <a:endParaRPr lang="en-US" altLang="zh-CN" sz="1200" b="1" dirty="0" smtClean="0"/>
          </a:p>
          <a:p>
            <a:endParaRPr lang="en-US" altLang="zh-CN" sz="1200" dirty="0"/>
          </a:p>
          <a:p>
            <a:endParaRPr lang="en-US" altLang="zh-CN" sz="1200" dirty="0" smtClean="0"/>
          </a:p>
          <a:p>
            <a:endParaRPr lang="en-US" altLang="zh-CN" sz="1200" dirty="0"/>
          </a:p>
          <a:p>
            <a:endParaRPr lang="en-US" altLang="zh-CN" sz="1200" dirty="0" smtClean="0"/>
          </a:p>
          <a:p>
            <a:endParaRPr lang="en-US" altLang="zh-CN" sz="1200" dirty="0"/>
          </a:p>
          <a:p>
            <a:endParaRPr lang="en-US" altLang="zh-CN" sz="1200" dirty="0" smtClean="0"/>
          </a:p>
          <a:p>
            <a:endParaRPr lang="en-US" altLang="zh-CN" sz="1200" dirty="0" smtClean="0"/>
          </a:p>
          <a:p>
            <a:r>
              <a:rPr lang="zh-CN" altLang="en-US" sz="1200" b="1" dirty="0" smtClean="0"/>
              <a:t>产生死锁的必要条件</a:t>
            </a:r>
            <a:endParaRPr lang="en-US" altLang="zh-CN" sz="1200" b="1" dirty="0" smtClean="0"/>
          </a:p>
          <a:p>
            <a:pPr lvl="1"/>
            <a:r>
              <a:rPr lang="zh-CN" altLang="en-US" sz="1200" dirty="0" smtClean="0"/>
              <a:t>多个并发事务（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个或者以上）</a:t>
            </a:r>
            <a:endParaRPr lang="en-US" altLang="zh-CN" sz="1200" dirty="0"/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 smtClean="0"/>
              <a:t>每个事务都持有了锁（</a:t>
            </a:r>
            <a:r>
              <a:rPr lang="zh-CN" altLang="en-US" sz="1200" dirty="0"/>
              <a:t>或者</a:t>
            </a:r>
            <a:r>
              <a:rPr lang="zh-CN" altLang="en-US" sz="1200" dirty="0" smtClean="0"/>
              <a:t>是已经在等待锁）</a:t>
            </a:r>
            <a:endParaRPr lang="en-US" altLang="zh-CN" sz="1200" dirty="0" smtClean="0"/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 smtClean="0"/>
              <a:t>每个事务都需要再继续持有锁（为了完成事务逻辑，还必须更新更多的行）</a:t>
            </a:r>
            <a:endParaRPr lang="en-US" altLang="zh-CN" sz="1200" dirty="0"/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 smtClean="0"/>
              <a:t>事务之间产生加锁的循环等待，形成死锁</a:t>
            </a:r>
            <a:endParaRPr lang="en-US" altLang="zh-CN" sz="1200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36" y="1063229"/>
            <a:ext cx="3496046" cy="239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8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不同于前面的基础篇，本篇介绍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在加锁处理上的具体实现。大部分跟其他数据库相同，但是小部分有自己的特殊逻辑在里面（有时，往往是这些特殊逻辑，导致了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死锁分析尤其困难）。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注：本篇介绍的，都是</a:t>
            </a:r>
            <a:r>
              <a:rPr lang="en-US" altLang="zh-CN" dirty="0" smtClean="0"/>
              <a:t>InnoDB</a:t>
            </a:r>
            <a:r>
              <a:rPr lang="zh-CN" altLang="en-US" dirty="0" smtClean="0"/>
              <a:t>存储引擎的实现，非</a:t>
            </a:r>
            <a:r>
              <a:rPr lang="en-US" altLang="zh-CN" dirty="0" smtClean="0"/>
              <a:t>InnoDB</a:t>
            </a:r>
            <a:r>
              <a:rPr lang="zh-CN" altLang="en-US" dirty="0" smtClean="0"/>
              <a:t>引擎请不要照搬照抄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r>
              <a:rPr lang="zh-CN" altLang="en-US" dirty="0"/>
              <a:t>本</a:t>
            </a:r>
            <a:r>
              <a:rPr lang="zh-CN" altLang="en-US" dirty="0" smtClean="0"/>
              <a:t>篇内容大纲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MySQL</a:t>
            </a:r>
            <a:r>
              <a:rPr lang="zh-CN" altLang="en-US" dirty="0" smtClean="0"/>
              <a:t>有哪些操作会加锁？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MySQL</a:t>
            </a:r>
            <a:r>
              <a:rPr lang="zh-CN" altLang="en-US" dirty="0" smtClean="0"/>
              <a:t>中有哪些锁模式？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MySQL</a:t>
            </a:r>
            <a:r>
              <a:rPr lang="zh-CN" altLang="en-US" dirty="0" smtClean="0"/>
              <a:t>中的锁冲突矩阵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MySQL</a:t>
            </a:r>
            <a:r>
              <a:rPr lang="zh-CN" altLang="en-US" dirty="0" smtClean="0"/>
              <a:t>中的特殊加锁逻辑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182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会加锁的操作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1" dirty="0" smtClean="0"/>
              <a:t>常见的加锁操作</a:t>
            </a:r>
            <a:endParaRPr lang="en-US" altLang="zh-CN" sz="1200" b="1" dirty="0" smtClean="0"/>
          </a:p>
          <a:p>
            <a:pPr lvl="1"/>
            <a:r>
              <a:rPr lang="en-US" altLang="zh-CN" sz="1200" b="1" dirty="0" smtClean="0"/>
              <a:t>Insert</a:t>
            </a:r>
            <a:r>
              <a:rPr lang="zh-CN" altLang="en-US" sz="1200" b="1" dirty="0" smtClean="0"/>
              <a:t>、</a:t>
            </a:r>
            <a:r>
              <a:rPr lang="en-US" altLang="zh-CN" sz="1200" b="1" dirty="0" smtClean="0"/>
              <a:t>Delete</a:t>
            </a:r>
            <a:r>
              <a:rPr lang="zh-CN" altLang="en-US" sz="1200" b="1" dirty="0" smtClean="0"/>
              <a:t>、</a:t>
            </a:r>
            <a:r>
              <a:rPr lang="en-US" altLang="zh-CN" sz="1200" b="1" dirty="0" smtClean="0"/>
              <a:t>Update</a:t>
            </a:r>
            <a:r>
              <a:rPr lang="zh-CN" altLang="en-US" sz="1200" b="1" dirty="0" smtClean="0"/>
              <a:t>（毫无疑问）</a:t>
            </a:r>
            <a:endParaRPr lang="en-US" altLang="zh-CN" sz="1200" b="1" dirty="0"/>
          </a:p>
          <a:p>
            <a:pPr lvl="1"/>
            <a:endParaRPr lang="en-US" altLang="zh-CN" sz="1200" dirty="0" smtClean="0"/>
          </a:p>
          <a:p>
            <a:pPr lvl="1"/>
            <a:r>
              <a:rPr lang="en-US" altLang="zh-CN" sz="1200" b="1" dirty="0" smtClean="0"/>
              <a:t>Select … lock in share mode</a:t>
            </a:r>
            <a:r>
              <a:rPr lang="zh-CN" altLang="en-US" sz="1200" b="1" dirty="0" smtClean="0"/>
              <a:t>、</a:t>
            </a:r>
            <a:r>
              <a:rPr lang="en-US" altLang="zh-CN" sz="1200" b="1" dirty="0" smtClean="0"/>
              <a:t>select … for update</a:t>
            </a:r>
            <a:r>
              <a:rPr lang="zh-CN" altLang="en-US" sz="1200" b="1" dirty="0" smtClean="0"/>
              <a:t>（显式加锁）</a:t>
            </a:r>
            <a:endParaRPr lang="en-US" altLang="zh-CN" sz="1200" b="1" dirty="0"/>
          </a:p>
          <a:p>
            <a:pPr lvl="1"/>
            <a:endParaRPr lang="en-US" altLang="zh-CN" sz="1200" dirty="0" smtClean="0"/>
          </a:p>
          <a:p>
            <a:pPr lvl="1"/>
            <a:r>
              <a:rPr lang="en-US" altLang="zh-CN" sz="1200" dirty="0" smtClean="0"/>
              <a:t>Lock table … read/write </a:t>
            </a:r>
            <a:r>
              <a:rPr lang="zh-CN" altLang="en-US" sz="1200" dirty="0" smtClean="0"/>
              <a:t>（显示加表级锁）</a:t>
            </a:r>
            <a:endParaRPr lang="en-US" altLang="zh-CN" sz="1200" dirty="0" smtClean="0"/>
          </a:p>
          <a:p>
            <a:pPr lvl="1"/>
            <a:endParaRPr lang="en-US" altLang="zh-CN" sz="1200" dirty="0" smtClean="0"/>
          </a:p>
          <a:p>
            <a:pPr lvl="1"/>
            <a:r>
              <a:rPr lang="en-US" altLang="zh-CN" sz="1200" dirty="0" smtClean="0"/>
              <a:t>Alter table … / Create Index … 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DDL</a:t>
            </a:r>
            <a:r>
              <a:rPr lang="zh-CN" altLang="en-US" sz="1200" dirty="0" smtClean="0"/>
              <a:t>操作引入的加锁）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Flush tables with read lock </a:t>
            </a:r>
            <a:r>
              <a:rPr lang="zh-CN" altLang="en-US" sz="1200" dirty="0" smtClean="0"/>
              <a:t>（备份常用）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b="1" dirty="0" smtClean="0">
                <a:solidFill>
                  <a:srgbClr val="FF0000"/>
                </a:solidFill>
              </a:rPr>
              <a:t>Primary Key/Unique Key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唯一约束检查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r>
              <a:rPr lang="en-US" altLang="zh-CN" sz="1200" b="1" dirty="0" smtClean="0"/>
              <a:t>MySQL</a:t>
            </a:r>
            <a:r>
              <a:rPr lang="zh-CN" altLang="en-US" sz="1200" b="1" dirty="0" smtClean="0"/>
              <a:t>特有的加锁操作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>
                <a:solidFill>
                  <a:srgbClr val="FF0000"/>
                </a:solidFill>
              </a:rPr>
              <a:t>Purge</a:t>
            </a:r>
            <a:r>
              <a:rPr lang="zh-CN" altLang="en-US" sz="1200" dirty="0" smtClean="0">
                <a:solidFill>
                  <a:srgbClr val="FF0000"/>
                </a:solidFill>
              </a:rPr>
              <a:t>操作加锁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purge</a:t>
            </a:r>
            <a:r>
              <a:rPr lang="zh-CN" altLang="en-US" sz="1200" dirty="0" smtClean="0"/>
              <a:t>是什么鬼？后面分析）</a:t>
            </a:r>
            <a:endParaRPr lang="zh-CN" altLang="en-US" sz="1200" dirty="0"/>
          </a:p>
        </p:txBody>
      </p:sp>
      <p:sp>
        <p:nvSpPr>
          <p:cNvPr id="6" name="矩形 5"/>
          <p:cNvSpPr/>
          <p:nvPr/>
        </p:nvSpPr>
        <p:spPr>
          <a:xfrm rot="20281045">
            <a:off x="286254" y="2283515"/>
            <a:ext cx="626825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</a:t>
            </a:r>
            <a:r>
              <a:rPr lang="zh-CN" altLang="en-US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：各操作分别加什么锁？</a:t>
            </a:r>
            <a:endParaRPr lang="zh-CN" altLang="en-US" sz="32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490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锁模式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063228"/>
            <a:ext cx="6172200" cy="3668761"/>
          </a:xfrm>
        </p:spPr>
        <p:txBody>
          <a:bodyPr>
            <a:noAutofit/>
          </a:bodyPr>
          <a:lstStyle/>
          <a:p>
            <a:r>
              <a:rPr lang="zh-CN" altLang="en-US" sz="1200" b="1" dirty="0" smtClean="0"/>
              <a:t>常规锁模式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/>
              <a:t>LOCK_S</a:t>
            </a:r>
            <a:r>
              <a:rPr lang="zh-CN" altLang="en-US" sz="1200" dirty="0" smtClean="0"/>
              <a:t>（读锁，共享锁，</a:t>
            </a:r>
            <a:r>
              <a:rPr lang="en-US" altLang="zh-CN" sz="1200" b="1" dirty="0" smtClean="0"/>
              <a:t>2</a:t>
            </a:r>
            <a:r>
              <a:rPr lang="zh-CN" altLang="en-US" sz="1200" dirty="0" smtClean="0"/>
              <a:t>） </a:t>
            </a:r>
            <a:r>
              <a:rPr lang="en-US" altLang="zh-CN" sz="1200" dirty="0" smtClean="0">
                <a:sym typeface="Wingdings" panose="05000000000000000000" pitchFamily="2" charset="2"/>
              </a:rPr>
              <a:t>  </a:t>
            </a:r>
            <a:r>
              <a:rPr lang="zh-CN" altLang="en-US" sz="12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这个数字有啥用？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1200" dirty="0" smtClean="0"/>
              <a:t>LOCK_X</a:t>
            </a:r>
            <a:r>
              <a:rPr lang="zh-CN" altLang="en-US" sz="1200" dirty="0" smtClean="0"/>
              <a:t>（写锁，排它锁，</a:t>
            </a:r>
            <a:r>
              <a:rPr lang="en-US" altLang="zh-CN" sz="1200" b="1" dirty="0" smtClean="0"/>
              <a:t>3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>
                <a:solidFill>
                  <a:srgbClr val="00B050"/>
                </a:solidFill>
              </a:rPr>
              <a:t>最</a:t>
            </a:r>
            <a:r>
              <a:rPr lang="zh-CN" altLang="en-US" sz="1200" dirty="0" smtClean="0">
                <a:solidFill>
                  <a:srgbClr val="00B050"/>
                </a:solidFill>
              </a:rPr>
              <a:t>容易理解的锁模式，读加共享锁，写加排它锁</a:t>
            </a:r>
            <a:endParaRPr lang="en-US" altLang="zh-CN" sz="1200" dirty="0" smtClean="0">
              <a:solidFill>
                <a:srgbClr val="00B050"/>
              </a:solidFill>
            </a:endParaRPr>
          </a:p>
          <a:p>
            <a:pPr lvl="1"/>
            <a:endParaRPr lang="en-US" altLang="zh-CN" sz="1200" dirty="0"/>
          </a:p>
          <a:p>
            <a:r>
              <a:rPr lang="zh-CN" altLang="en-US" sz="1200" b="1" dirty="0" smtClean="0"/>
              <a:t>锁的属性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/>
              <a:t>LOCK_REC_NOT_GAP</a:t>
            </a:r>
            <a:r>
              <a:rPr lang="zh-CN" altLang="en-US" sz="1200" dirty="0" smtClean="0"/>
              <a:t>（锁记录，</a:t>
            </a:r>
            <a:r>
              <a:rPr lang="en-US" altLang="zh-CN" sz="1200" b="1" dirty="0" smtClean="0"/>
              <a:t>1024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r>
              <a:rPr lang="en-US" altLang="zh-CN" sz="1200" dirty="0" smtClean="0"/>
              <a:t>LOCK_GAP</a:t>
            </a:r>
            <a:r>
              <a:rPr lang="zh-CN" altLang="en-US" sz="1200" dirty="0" smtClean="0"/>
              <a:t>（锁记录前的</a:t>
            </a:r>
            <a:r>
              <a:rPr lang="en-US" altLang="zh-CN" sz="1200" dirty="0" smtClean="0"/>
              <a:t>GAP</a:t>
            </a:r>
            <a:r>
              <a:rPr lang="zh-CN" altLang="en-US" sz="1200" dirty="0" smtClean="0"/>
              <a:t>，</a:t>
            </a:r>
            <a:r>
              <a:rPr lang="en-US" altLang="zh-CN" sz="1200" b="1" dirty="0" smtClean="0"/>
              <a:t>512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r>
              <a:rPr lang="en-US" altLang="zh-CN" sz="1200" dirty="0" smtClean="0"/>
              <a:t>LOCK_ORDINARY</a:t>
            </a:r>
            <a:r>
              <a:rPr lang="zh-CN" altLang="en-US" sz="1200" dirty="0" smtClean="0"/>
              <a:t>（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同时锁记录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+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记录前的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GAP</a:t>
            </a:r>
            <a:r>
              <a:rPr lang="zh-CN" altLang="en-US" sz="1200" dirty="0" smtClean="0"/>
              <a:t>，</a:t>
            </a:r>
            <a:r>
              <a:rPr lang="en-US" altLang="zh-CN" sz="1200" b="1" dirty="0" smtClean="0"/>
              <a:t>0</a:t>
            </a:r>
            <a:r>
              <a:rPr lang="zh-CN" altLang="en-US" sz="1200" b="1" dirty="0" smtClean="0"/>
              <a:t>。传说中的</a:t>
            </a:r>
            <a:r>
              <a:rPr lang="en-US" altLang="zh-CN" sz="1200" b="1" dirty="0" smtClean="0"/>
              <a:t>Next Key</a:t>
            </a:r>
            <a:r>
              <a:rPr lang="zh-CN" altLang="en-US" sz="1200" b="1" dirty="0" smtClean="0"/>
              <a:t>锁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r>
              <a:rPr lang="en-US" altLang="zh-CN" sz="1200" dirty="0" smtClean="0"/>
              <a:t>LOCK_INSERT_INTENTION</a:t>
            </a:r>
            <a:r>
              <a:rPr lang="zh-CN" altLang="en-US" sz="1200" dirty="0" smtClean="0"/>
              <a:t>（插入意向锁，</a:t>
            </a:r>
            <a:r>
              <a:rPr lang="en-US" altLang="zh-CN" sz="1200" b="1" dirty="0" smtClean="0"/>
              <a:t>2048</a:t>
            </a:r>
            <a:r>
              <a:rPr lang="zh-CN" altLang="en-US" sz="1200" dirty="0" smtClean="0"/>
              <a:t>）</a:t>
            </a:r>
            <a:endParaRPr lang="en-US" altLang="zh-CN" sz="1200" dirty="0"/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 smtClean="0">
                <a:solidFill>
                  <a:srgbClr val="FF0000"/>
                </a:solidFill>
              </a:rPr>
              <a:t>加上</a:t>
            </a:r>
            <a:r>
              <a:rPr lang="en-US" altLang="zh-CN" sz="1200" dirty="0" smtClean="0">
                <a:solidFill>
                  <a:srgbClr val="FF0000"/>
                </a:solidFill>
              </a:rPr>
              <a:t>LOCK_GAP</a:t>
            </a:r>
            <a:r>
              <a:rPr lang="zh-CN" altLang="en-US" sz="1200" dirty="0" smtClean="0">
                <a:solidFill>
                  <a:srgbClr val="FF0000"/>
                </a:solidFill>
              </a:rPr>
              <a:t>，一切难以理解的源头（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后面重点分析</a:t>
            </a:r>
            <a:r>
              <a:rPr lang="zh-CN" altLang="en-US" sz="1200" dirty="0" smtClean="0">
                <a:solidFill>
                  <a:srgbClr val="FF0000"/>
                </a:solidFill>
              </a:rPr>
              <a:t>）</a:t>
            </a:r>
            <a:endParaRPr lang="en-US" altLang="zh-CN" sz="1200" dirty="0" smtClean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r>
              <a:rPr lang="zh-CN" altLang="en-US" sz="1200" b="1" dirty="0" smtClean="0"/>
              <a:t>锁组合（属性 </a:t>
            </a:r>
            <a:r>
              <a:rPr lang="en-US" altLang="zh-CN" sz="1200" b="1" dirty="0" smtClean="0"/>
              <a:t>+ </a:t>
            </a:r>
            <a:r>
              <a:rPr lang="zh-CN" altLang="en-US" sz="1200" b="1" dirty="0" smtClean="0"/>
              <a:t>模式）</a:t>
            </a:r>
            <a:endParaRPr lang="en-US" altLang="zh-CN" sz="1200" b="1" dirty="0" smtClean="0"/>
          </a:p>
          <a:p>
            <a:pPr lvl="1"/>
            <a:r>
              <a:rPr lang="zh-CN" altLang="en-US" sz="1200" dirty="0"/>
              <a:t>锁</a:t>
            </a:r>
            <a:r>
              <a:rPr lang="zh-CN" altLang="en-US" sz="1200" dirty="0" smtClean="0"/>
              <a:t>的属性可以与锁模式任意组合。例如</a:t>
            </a:r>
            <a:r>
              <a:rPr lang="zh-CN" altLang="en-US" sz="1200" dirty="0" smtClean="0">
                <a:sym typeface="Wingdings" panose="05000000000000000000" pitchFamily="2" charset="2"/>
              </a:rPr>
              <a:t>：</a:t>
            </a:r>
            <a:r>
              <a:rPr lang="en-US" altLang="zh-CN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LOCK_REC_NOT_GAP</a:t>
            </a:r>
            <a:r>
              <a:rPr lang="zh-CN" altLang="en-US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1024</a:t>
            </a:r>
            <a:r>
              <a:rPr lang="zh-CN" altLang="en-US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）</a:t>
            </a:r>
            <a:r>
              <a:rPr lang="en-US" altLang="zh-CN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+ LOCK_X</a:t>
            </a:r>
            <a:r>
              <a:rPr lang="zh-CN" altLang="en-US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zh-CN" altLang="en-US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）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7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锁冲突矩阵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742801"/>
              </p:ext>
            </p:extLst>
          </p:nvPr>
        </p:nvGraphicFramePr>
        <p:xfrm>
          <a:off x="44624" y="1203598"/>
          <a:ext cx="6768752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94"/>
                <a:gridCol w="846094"/>
                <a:gridCol w="846094"/>
                <a:gridCol w="846094"/>
                <a:gridCol w="846094"/>
                <a:gridCol w="846094"/>
                <a:gridCol w="846094"/>
                <a:gridCol w="846094"/>
              </a:tblGrid>
              <a:tr h="414046"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列：存在锁</a:t>
                      </a:r>
                      <a:endParaRPr lang="en-US" altLang="zh-CN" sz="1000" b="1" dirty="0" smtClean="0"/>
                    </a:p>
                    <a:p>
                      <a:r>
                        <a:rPr lang="zh-CN" altLang="en-US" sz="1000" b="1" dirty="0" smtClean="0"/>
                        <a:t>行：待加锁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Gap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Gap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Ordinary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Gap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Gap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Ordinary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Insert Intention</a:t>
                      </a:r>
                      <a:endParaRPr lang="zh-CN" altLang="en-US" sz="1000" b="1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S</a:t>
                      </a:r>
                      <a:r>
                        <a:rPr lang="zh-CN" altLang="en-US" sz="1000" b="1" dirty="0" smtClean="0"/>
                        <a:t>（</a:t>
                      </a:r>
                      <a:r>
                        <a:rPr lang="en-US" altLang="zh-CN" sz="1000" b="1" dirty="0" smtClean="0"/>
                        <a:t>Not Gap</a:t>
                      </a:r>
                      <a:r>
                        <a:rPr lang="zh-CN" altLang="en-US" sz="1000" b="1" dirty="0" smtClean="0"/>
                        <a:t>）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 smtClean="0"/>
                        <a:t>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S</a:t>
                      </a:r>
                      <a:r>
                        <a:rPr lang="zh-CN" altLang="en-US" sz="1000" b="1" dirty="0" smtClean="0"/>
                        <a:t>（</a:t>
                      </a:r>
                      <a:r>
                        <a:rPr lang="en-US" altLang="zh-CN" sz="1000" b="1" dirty="0" smtClean="0"/>
                        <a:t>Gap</a:t>
                      </a:r>
                      <a:r>
                        <a:rPr lang="zh-CN" altLang="en-US" sz="1000" b="1" dirty="0" smtClean="0"/>
                        <a:t>）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S</a:t>
                      </a:r>
                      <a:r>
                        <a:rPr lang="zh-CN" altLang="en-US" sz="1000" b="1" dirty="0" smtClean="0"/>
                        <a:t>（</a:t>
                      </a:r>
                      <a:r>
                        <a:rPr lang="en-US" altLang="zh-CN" sz="1000" b="1" dirty="0" smtClean="0"/>
                        <a:t>Ordinary</a:t>
                      </a:r>
                      <a:r>
                        <a:rPr lang="zh-CN" altLang="en-US" sz="1000" b="1" dirty="0" smtClean="0"/>
                        <a:t>）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X</a:t>
                      </a:r>
                      <a:r>
                        <a:rPr lang="zh-CN" altLang="en-US" sz="1000" b="1" dirty="0" smtClean="0"/>
                        <a:t>（</a:t>
                      </a:r>
                      <a:r>
                        <a:rPr lang="en-US" altLang="zh-CN" sz="1000" b="1" dirty="0" smtClean="0"/>
                        <a:t>Not</a:t>
                      </a:r>
                      <a:r>
                        <a:rPr lang="en-US" altLang="zh-CN" sz="1000" b="1" baseline="0" dirty="0" smtClean="0"/>
                        <a:t> Gap</a:t>
                      </a:r>
                      <a:r>
                        <a:rPr lang="zh-CN" altLang="en-US" sz="1000" b="1" dirty="0" smtClean="0"/>
                        <a:t>）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X</a:t>
                      </a:r>
                      <a:r>
                        <a:rPr lang="zh-CN" altLang="en-US" sz="1000" b="1" dirty="0" smtClean="0"/>
                        <a:t>（</a:t>
                      </a:r>
                      <a:r>
                        <a:rPr lang="en-US" altLang="zh-CN" sz="1000" b="1" dirty="0" smtClean="0"/>
                        <a:t>Gap</a:t>
                      </a:r>
                      <a:r>
                        <a:rPr lang="zh-CN" altLang="en-US" sz="1000" b="1" dirty="0" smtClean="0"/>
                        <a:t>）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X</a:t>
                      </a:r>
                      <a:r>
                        <a:rPr lang="zh-CN" altLang="en-US" sz="1000" b="1" dirty="0" smtClean="0"/>
                        <a:t>（</a:t>
                      </a:r>
                      <a:r>
                        <a:rPr lang="en-US" altLang="zh-CN" sz="1000" b="1" dirty="0" smtClean="0"/>
                        <a:t>Ordinary</a:t>
                      </a:r>
                      <a:r>
                        <a:rPr lang="zh-CN" altLang="en-US" sz="1000" b="1" dirty="0" smtClean="0"/>
                        <a:t>）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 smtClean="0"/>
                        <a:t>冲突</a:t>
                      </a:r>
                      <a:endParaRPr lang="zh-CN" altLang="en-US" sz="1000" b="1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Insert Intention</a:t>
                      </a:r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56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操作与加锁的对照关系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400" dirty="0" smtClean="0"/>
              <a:t>注：</a:t>
            </a:r>
            <a:r>
              <a:rPr lang="zh-CN" altLang="en-US" sz="1400" b="1" dirty="0" smtClean="0"/>
              <a:t>以</a:t>
            </a:r>
            <a:r>
              <a:rPr lang="en-US" altLang="zh-CN" sz="1400" b="1" dirty="0" smtClean="0"/>
              <a:t>RC</a:t>
            </a:r>
            <a:r>
              <a:rPr lang="zh-CN" altLang="en-US" sz="1400" b="1" dirty="0" smtClean="0"/>
              <a:t>隔离级别为例（后面的事例，均为</a:t>
            </a:r>
            <a:r>
              <a:rPr lang="en-US" altLang="zh-CN" sz="1400" b="1" dirty="0" smtClean="0"/>
              <a:t>RC</a:t>
            </a:r>
            <a:r>
              <a:rPr lang="zh-CN" altLang="en-US" sz="1400" b="1" dirty="0" smtClean="0"/>
              <a:t>隔离级别）</a:t>
            </a:r>
            <a:endParaRPr lang="en-US" altLang="zh-CN" sz="1400" b="1" dirty="0" smtClean="0"/>
          </a:p>
          <a:p>
            <a:endParaRPr lang="en-US" altLang="zh-CN" sz="1400" dirty="0"/>
          </a:p>
          <a:p>
            <a:r>
              <a:rPr lang="en-US" altLang="zh-CN" sz="1400" b="1" dirty="0" smtClean="0">
                <a:solidFill>
                  <a:srgbClr val="FF0000"/>
                </a:solidFill>
              </a:rPr>
              <a:t>Insert</a:t>
            </a:r>
          </a:p>
          <a:p>
            <a:pPr lvl="1"/>
            <a:r>
              <a:rPr lang="zh-CN" altLang="en-US" sz="1400" b="1" dirty="0" smtClean="0"/>
              <a:t>无</a:t>
            </a:r>
            <a:r>
              <a:rPr lang="en-US" altLang="zh-CN" sz="1400" b="1" dirty="0" smtClean="0"/>
              <a:t>Unique Key</a:t>
            </a:r>
            <a:r>
              <a:rPr lang="zh-CN" altLang="en-US" sz="1400" dirty="0" smtClean="0"/>
              <a:t>：</a:t>
            </a:r>
            <a:r>
              <a:rPr lang="en-US" altLang="zh-CN" sz="1400" b="1" dirty="0" smtClean="0"/>
              <a:t>LOCK_X + LOCK_REC_NOT_GAP </a:t>
            </a:r>
            <a:r>
              <a:rPr lang="zh-CN" altLang="en-US" sz="1400" b="1" dirty="0" smtClean="0"/>
              <a:t>（</a:t>
            </a:r>
            <a:r>
              <a:rPr lang="en-US" altLang="zh-CN" sz="1400" b="1" dirty="0" smtClean="0"/>
              <a:t>3 + 1024 = 1027</a:t>
            </a:r>
            <a:r>
              <a:rPr lang="zh-CN" altLang="en-US" sz="1400" b="1" dirty="0" smtClean="0"/>
              <a:t>）</a:t>
            </a:r>
            <a:endParaRPr lang="en-US" altLang="zh-CN" sz="1400" b="1" dirty="0" smtClean="0"/>
          </a:p>
          <a:p>
            <a:pPr lvl="1"/>
            <a:endParaRPr lang="en-US" altLang="zh-CN" sz="1400" dirty="0"/>
          </a:p>
          <a:p>
            <a:pPr lvl="1"/>
            <a:r>
              <a:rPr lang="zh-CN" altLang="en-US" sz="1400" b="1" dirty="0" smtClean="0">
                <a:solidFill>
                  <a:srgbClr val="FF0000"/>
                </a:solidFill>
              </a:rPr>
              <a:t>有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Unique Key</a:t>
            </a:r>
            <a:r>
              <a:rPr lang="zh-CN" altLang="en-US" sz="1400" dirty="0" smtClean="0"/>
              <a:t>：</a:t>
            </a:r>
            <a:endParaRPr lang="en-US" altLang="zh-CN" sz="1400" dirty="0" smtClean="0"/>
          </a:p>
          <a:p>
            <a:pPr lvl="2"/>
            <a:r>
              <a:rPr lang="zh-CN" altLang="en-US" sz="1400" b="1" dirty="0" smtClean="0">
                <a:solidFill>
                  <a:srgbClr val="FF0000"/>
                </a:solidFill>
              </a:rPr>
              <a:t>唯一性约束检查</a:t>
            </a:r>
            <a:r>
              <a:rPr lang="zh-CN" altLang="en-US" sz="1400" dirty="0" smtClean="0"/>
              <a:t>：</a:t>
            </a:r>
            <a:r>
              <a:rPr lang="en-US" altLang="zh-CN" sz="1400" b="1" dirty="0" smtClean="0"/>
              <a:t>LOCK_S + LOCK_ORDINARY</a:t>
            </a:r>
            <a:r>
              <a:rPr lang="zh-CN" altLang="en-US" sz="1400" b="1" dirty="0" smtClean="0"/>
              <a:t>（</a:t>
            </a:r>
            <a:r>
              <a:rPr lang="en-US" altLang="zh-CN" sz="1400" b="1" dirty="0" smtClean="0"/>
              <a:t>2 + 0 = 2</a:t>
            </a:r>
            <a:r>
              <a:rPr lang="zh-CN" altLang="en-US" sz="1400" b="1" dirty="0" smtClean="0"/>
              <a:t>）</a:t>
            </a:r>
            <a:endParaRPr lang="en-US" altLang="zh-CN" sz="1400" b="1" dirty="0" smtClean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>
                <a:solidFill>
                  <a:srgbClr val="FF0000"/>
                </a:solidFill>
              </a:rPr>
              <a:t>插入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的位置有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Gap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锁</a:t>
            </a:r>
            <a:r>
              <a:rPr lang="zh-CN" altLang="en-US" sz="1400" b="1" dirty="0" smtClean="0"/>
              <a:t>：</a:t>
            </a:r>
            <a:r>
              <a:rPr lang="en-US" altLang="zh-CN" sz="1400" b="1" dirty="0" smtClean="0"/>
              <a:t>LOCK_INSERT_INTENTION</a:t>
            </a:r>
            <a:r>
              <a:rPr lang="zh-CN" altLang="en-US" sz="1400" b="1" dirty="0" smtClean="0"/>
              <a:t>（</a:t>
            </a:r>
            <a:r>
              <a:rPr lang="en-US" altLang="zh-CN" sz="1400" b="1" dirty="0" smtClean="0"/>
              <a:t>2048</a:t>
            </a:r>
            <a:r>
              <a:rPr lang="zh-CN" altLang="en-US" sz="1400" b="1" dirty="0" smtClean="0"/>
              <a:t>）</a:t>
            </a:r>
            <a:endParaRPr lang="en-US" altLang="zh-CN" sz="1400" b="1" dirty="0" smtClean="0"/>
          </a:p>
          <a:p>
            <a:pPr lvl="2"/>
            <a:endParaRPr lang="en-US" altLang="zh-CN" sz="1400" b="1" dirty="0" smtClean="0"/>
          </a:p>
          <a:p>
            <a:pPr lvl="2"/>
            <a:r>
              <a:rPr lang="zh-CN" altLang="en-US" sz="1400" dirty="0"/>
              <a:t>新</a:t>
            </a:r>
            <a:r>
              <a:rPr lang="zh-CN" altLang="en-US" sz="1400" dirty="0" smtClean="0"/>
              <a:t>数据插入：</a:t>
            </a:r>
            <a:r>
              <a:rPr lang="en-US" altLang="zh-CN" sz="1400" b="1" dirty="0"/>
              <a:t>LOCK_X + LOCK_REC_NOT_GAP 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3 + 1024 = 1027</a:t>
            </a:r>
            <a:r>
              <a:rPr lang="zh-CN" altLang="en-US" sz="1400" b="1" dirty="0" smtClean="0"/>
              <a:t>）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53219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操作与加锁的对照关系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400" dirty="0" smtClean="0">
                <a:solidFill>
                  <a:srgbClr val="FF0000"/>
                </a:solidFill>
              </a:rPr>
              <a:t>Delete</a:t>
            </a:r>
          </a:p>
          <a:p>
            <a:pPr lvl="1"/>
            <a:r>
              <a:rPr lang="zh-CN" altLang="en-US" sz="1400" dirty="0" smtClean="0"/>
              <a:t>满足删除条件的所有记录，</a:t>
            </a:r>
            <a:r>
              <a:rPr lang="en-US" altLang="zh-CN" sz="1400" b="1" dirty="0" smtClean="0"/>
              <a:t>LOCK_X + LOCK_REC_NOT_GAP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0292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操作与加锁的对照关系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200" b="1" dirty="0" smtClean="0"/>
              <a:t>Update</a:t>
            </a:r>
            <a:r>
              <a:rPr lang="zh-CN" altLang="en-US" sz="1200" b="1" dirty="0" smtClean="0"/>
              <a:t>操作分解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/>
              <a:t>Step 1</a:t>
            </a:r>
            <a:r>
              <a:rPr lang="zh-CN" altLang="en-US" sz="1200" dirty="0" smtClean="0"/>
              <a:t>：定位到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下一条</a:t>
            </a:r>
            <a:r>
              <a:rPr lang="zh-CN" altLang="en-US" sz="1200" dirty="0" smtClean="0"/>
              <a:t>满足查询条件的记录（查询过程，类似于</a:t>
            </a:r>
            <a:r>
              <a:rPr lang="en-US" altLang="zh-CN" sz="1200" dirty="0" smtClean="0"/>
              <a:t>Select/Delete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endParaRPr lang="en-US" altLang="zh-CN" sz="1200" dirty="0" smtClean="0"/>
          </a:p>
          <a:p>
            <a:pPr lvl="1"/>
            <a:r>
              <a:rPr lang="en-US" altLang="zh-CN" sz="1200" dirty="0" smtClean="0"/>
              <a:t>Step 2</a:t>
            </a:r>
            <a:r>
              <a:rPr lang="zh-CN" altLang="en-US" sz="1200" dirty="0" smtClean="0"/>
              <a:t>：删除当前定位到的记录（标记为删除状态）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Step 3</a:t>
            </a:r>
            <a:r>
              <a:rPr lang="zh-CN" altLang="en-US" sz="1200" dirty="0" smtClean="0"/>
              <a:t>：拼装更新后项，根据更新后项定位到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新的插入位置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Step 4</a:t>
            </a:r>
            <a:r>
              <a:rPr lang="zh-CN" altLang="en-US" sz="1200" dirty="0" smtClean="0"/>
              <a:t>：在新的插入位置，判断是否存在 </a:t>
            </a:r>
            <a:r>
              <a:rPr lang="en-US" altLang="zh-CN" sz="1200" dirty="0" smtClean="0"/>
              <a:t>Unique </a:t>
            </a:r>
            <a:r>
              <a:rPr lang="zh-CN" altLang="en-US" sz="1200" dirty="0" smtClean="0"/>
              <a:t>冲突（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存在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Unique Key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时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Step 5</a:t>
            </a:r>
            <a:r>
              <a:rPr lang="zh-CN" altLang="en-US" sz="1200" dirty="0" smtClean="0"/>
              <a:t>：插入更新后项（不存在</a:t>
            </a:r>
            <a:r>
              <a:rPr lang="en-US" altLang="zh-CN" sz="1200" dirty="0" smtClean="0"/>
              <a:t>Unique</a:t>
            </a:r>
            <a:r>
              <a:rPr lang="zh-CN" altLang="en-US" sz="1200" dirty="0" smtClean="0"/>
              <a:t>冲突时）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en-US" altLang="zh-CN" sz="1200" dirty="0" smtClean="0"/>
              <a:t>Step 6</a:t>
            </a:r>
            <a:r>
              <a:rPr lang="zh-CN" altLang="en-US" sz="1200" dirty="0" smtClean="0"/>
              <a:t>：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重复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Step 1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到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Step 5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的操作</a:t>
            </a:r>
            <a:r>
              <a:rPr lang="zh-CN" altLang="en-US" sz="1200" dirty="0" smtClean="0"/>
              <a:t>，直至扫描完整个查询范围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r>
              <a:rPr lang="en-US" altLang="zh-CN" sz="1200" b="1" dirty="0" smtClean="0"/>
              <a:t>Update</a:t>
            </a:r>
            <a:r>
              <a:rPr lang="zh-CN" altLang="en-US" sz="1200" b="1" dirty="0" smtClean="0"/>
              <a:t>操作分析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/>
              <a:t>Step 1</a:t>
            </a:r>
            <a:r>
              <a:rPr lang="zh-CN" altLang="en-US" sz="1200" dirty="0" smtClean="0"/>
              <a:t>，</a:t>
            </a:r>
            <a:r>
              <a:rPr lang="en-US" altLang="zh-CN" sz="1200" dirty="0" smtClean="0"/>
              <a:t>Step 2</a:t>
            </a:r>
            <a:r>
              <a:rPr lang="zh-CN" altLang="en-US" sz="1200" dirty="0" smtClean="0"/>
              <a:t>：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Delete</a:t>
            </a:r>
          </a:p>
          <a:p>
            <a:pPr lvl="1"/>
            <a:r>
              <a:rPr lang="en-US" altLang="zh-CN" sz="1200" dirty="0" smtClean="0"/>
              <a:t>Step 3</a:t>
            </a:r>
            <a:r>
              <a:rPr lang="zh-CN" altLang="en-US" sz="1200" dirty="0" smtClean="0"/>
              <a:t>，</a:t>
            </a:r>
            <a:r>
              <a:rPr lang="en-US" altLang="zh-CN" sz="1200" dirty="0" smtClean="0"/>
              <a:t>Step 4</a:t>
            </a:r>
            <a:r>
              <a:rPr lang="zh-CN" altLang="en-US" sz="1200" dirty="0" smtClean="0"/>
              <a:t>，</a:t>
            </a:r>
            <a:r>
              <a:rPr lang="en-US" altLang="zh-CN" sz="1200" dirty="0" smtClean="0"/>
              <a:t>Step 5</a:t>
            </a:r>
            <a:r>
              <a:rPr lang="zh-CN" altLang="en-US" sz="1200" dirty="0" smtClean="0"/>
              <a:t>：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07687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篇</a:t>
            </a:r>
            <a:r>
              <a:rPr lang="en-US" altLang="zh-CN" dirty="0"/>
              <a:t>——</a:t>
            </a:r>
            <a:r>
              <a:rPr lang="zh-CN" altLang="en-US" dirty="0"/>
              <a:t>操作与加锁的对照关系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dirty="0" smtClean="0">
                <a:solidFill>
                  <a:srgbClr val="FF0000"/>
                </a:solidFill>
              </a:rPr>
              <a:t>Update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1200" b="1" dirty="0"/>
              <a:t>无</a:t>
            </a:r>
            <a:r>
              <a:rPr lang="en-US" altLang="zh-CN" sz="1200" b="1" dirty="0"/>
              <a:t>Unique Key</a:t>
            </a:r>
            <a:r>
              <a:rPr lang="zh-CN" altLang="en-US" sz="1200" dirty="0"/>
              <a:t>：查询范围中的所有记录，</a:t>
            </a:r>
            <a:r>
              <a:rPr lang="en-US" altLang="zh-CN" sz="1200" b="1" dirty="0"/>
              <a:t> LOCK_X + LOCK_REC_NOT_GAP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有</a:t>
            </a:r>
            <a:r>
              <a:rPr lang="en-US" altLang="zh-CN" sz="1200" b="1" dirty="0">
                <a:solidFill>
                  <a:srgbClr val="FF0000"/>
                </a:solidFill>
              </a:rPr>
              <a:t>Unique Key</a:t>
            </a:r>
            <a:r>
              <a:rPr lang="zh-CN" altLang="en-US" sz="1200" dirty="0"/>
              <a:t>：</a:t>
            </a:r>
            <a:endParaRPr lang="en-US" altLang="zh-CN" sz="1200" dirty="0"/>
          </a:p>
          <a:p>
            <a:pPr lvl="2"/>
            <a:r>
              <a:rPr lang="zh-CN" altLang="en-US" sz="1200" dirty="0" smtClean="0"/>
              <a:t>查找满足条件的记录：查询范围内的所有记录，</a:t>
            </a:r>
            <a:r>
              <a:rPr lang="en-US" altLang="zh-CN" sz="1200" b="1" dirty="0"/>
              <a:t> LOCK_X + </a:t>
            </a:r>
            <a:r>
              <a:rPr lang="en-US" altLang="zh-CN" sz="1200" b="1" dirty="0" smtClean="0"/>
              <a:t>LOCK_REC_NOT_GAP</a:t>
            </a:r>
          </a:p>
          <a:p>
            <a:pPr lvl="2"/>
            <a:endParaRPr lang="en-US" altLang="zh-CN" sz="1200" dirty="0"/>
          </a:p>
          <a:p>
            <a:pPr lvl="2"/>
            <a:r>
              <a:rPr lang="zh-CN" altLang="en-US" sz="1200" dirty="0" smtClean="0"/>
              <a:t>更新后项存在唯一性冲突：冲突项上的加锁，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LOCK_S + LOCK_ORDINARY</a:t>
            </a:r>
          </a:p>
          <a:p>
            <a:pPr lvl="2"/>
            <a:endParaRPr lang="en-US" altLang="zh-CN" sz="1200" dirty="0"/>
          </a:p>
          <a:p>
            <a:pPr lvl="2"/>
            <a:r>
              <a:rPr lang="zh-CN" altLang="en-US" sz="1200" dirty="0" smtClean="0"/>
              <a:t>更新后项不存在唯一性冲突：</a:t>
            </a:r>
            <a:r>
              <a:rPr lang="en-US" altLang="zh-CN" sz="1200" dirty="0" smtClean="0"/>
              <a:t> </a:t>
            </a:r>
            <a:r>
              <a:rPr lang="zh-CN" altLang="en-US" sz="1200" dirty="0" smtClean="0"/>
              <a:t>更新位置后项加锁，</a:t>
            </a:r>
            <a:r>
              <a:rPr lang="en-US" altLang="zh-CN" sz="1200" b="1" dirty="0" smtClean="0"/>
              <a:t>LOCK_S + LOCK_GAP</a:t>
            </a:r>
            <a:r>
              <a:rPr lang="zh-CN" altLang="en-US" sz="1200" b="1" dirty="0" smtClean="0"/>
              <a:t>（省略）</a:t>
            </a:r>
            <a:endParaRPr lang="en-US" altLang="zh-CN" sz="1200" b="1" dirty="0" smtClean="0"/>
          </a:p>
          <a:p>
            <a:pPr lvl="2"/>
            <a:endParaRPr lang="en-US" altLang="zh-CN" sz="1200" dirty="0"/>
          </a:p>
          <a:p>
            <a:pPr lvl="2"/>
            <a:r>
              <a:rPr lang="zh-CN" altLang="en-US" sz="1200" dirty="0" smtClean="0"/>
              <a:t>实际更新操作：可看做插入了一条新纪录，</a:t>
            </a:r>
            <a:r>
              <a:rPr lang="en-US" altLang="zh-CN" sz="1200" b="1" dirty="0" smtClean="0"/>
              <a:t>LOCK_X + LOCK_REC_NOT_GAP</a:t>
            </a:r>
          </a:p>
          <a:p>
            <a:pPr lvl="2"/>
            <a:endParaRPr lang="en-US" altLang="zh-CN" sz="1200" b="1" dirty="0"/>
          </a:p>
          <a:p>
            <a:pPr lvl="2"/>
            <a:r>
              <a:rPr lang="zh-CN" altLang="en-US" sz="1200" b="1" dirty="0" smtClean="0"/>
              <a:t>很复杂，我相信大家都晕了</a:t>
            </a:r>
            <a:r>
              <a:rPr lang="en-US" altLang="zh-CN" sz="1200" b="1" dirty="0" smtClean="0"/>
              <a:t>… …</a:t>
            </a:r>
          </a:p>
          <a:p>
            <a:pPr lvl="2"/>
            <a:endParaRPr lang="en-US" altLang="zh-CN" sz="1200" b="1" dirty="0" smtClean="0"/>
          </a:p>
          <a:p>
            <a:pPr lvl="2"/>
            <a:r>
              <a:rPr lang="zh-CN" altLang="en-US" sz="1200" b="1" dirty="0" smtClean="0"/>
              <a:t>记住一点：</a:t>
            </a:r>
            <a:r>
              <a:rPr lang="en-US" altLang="zh-CN" sz="1200" b="1" dirty="0" smtClean="0"/>
              <a:t>Unique </a:t>
            </a:r>
            <a:r>
              <a:rPr lang="zh-CN" altLang="en-US" sz="1200" b="1" dirty="0" smtClean="0"/>
              <a:t>索引的加锁处理，非常复杂（</a:t>
            </a:r>
            <a:r>
              <a:rPr lang="zh-CN" altLang="en-US" sz="1200" b="1" dirty="0" smtClean="0">
                <a:sym typeface="Wingdings" panose="05000000000000000000" pitchFamily="2" charset="2"/>
              </a:rPr>
              <a:t></a:t>
            </a:r>
            <a:r>
              <a:rPr lang="zh-CN" altLang="en-US" sz="1200" b="1" dirty="0" smtClean="0"/>
              <a:t>）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0577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3357044"/>
            <a:ext cx="3840669" cy="19510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16" y="1228315"/>
            <a:ext cx="4427388" cy="208391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——GAP</a:t>
            </a:r>
            <a:r>
              <a:rPr lang="zh-CN" altLang="en-US" dirty="0" smtClean="0"/>
              <a:t>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00153"/>
            <a:ext cx="6172200" cy="3315813"/>
          </a:xfrm>
        </p:spPr>
        <p:txBody>
          <a:bodyPr>
            <a:normAutofit/>
          </a:bodyPr>
          <a:lstStyle/>
          <a:p>
            <a:r>
              <a:rPr lang="en-US" altLang="zh-CN" sz="1200" b="1" dirty="0" smtClean="0"/>
              <a:t>GAP</a:t>
            </a:r>
            <a:r>
              <a:rPr lang="zh-CN" altLang="en-US" sz="1200" b="1" dirty="0" smtClean="0"/>
              <a:t>锁的目的</a:t>
            </a:r>
            <a:endParaRPr lang="en-US" altLang="zh-CN" sz="1200" b="1" dirty="0" smtClean="0"/>
          </a:p>
          <a:p>
            <a:pPr lvl="1"/>
            <a:r>
              <a:rPr lang="zh-CN" altLang="en-US" sz="1200" b="1" dirty="0" smtClean="0">
                <a:solidFill>
                  <a:srgbClr val="FF0000"/>
                </a:solidFill>
              </a:rPr>
              <a:t>实现可重复读，防止幻读的产生</a:t>
            </a:r>
            <a:r>
              <a:rPr lang="zh-CN" altLang="en-US" sz="1200" dirty="0" smtClean="0">
                <a:solidFill>
                  <a:srgbClr val="FF0000"/>
                </a:solidFill>
              </a:rPr>
              <a:t>（与</a:t>
            </a:r>
            <a:r>
              <a:rPr lang="en-US" altLang="zh-CN" sz="1200" dirty="0" smtClean="0">
                <a:solidFill>
                  <a:srgbClr val="FF0000"/>
                </a:solidFill>
              </a:rPr>
              <a:t>MVCC</a:t>
            </a:r>
            <a:r>
              <a:rPr lang="zh-CN" altLang="en-US" sz="1200" dirty="0" smtClean="0">
                <a:solidFill>
                  <a:srgbClr val="FF0000"/>
                </a:solidFill>
              </a:rPr>
              <a:t>的区别？）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b="1" dirty="0" smtClean="0"/>
              <a:t>生活中的例子</a:t>
            </a:r>
            <a:endParaRPr lang="en-US" altLang="zh-CN" sz="1200" b="1" dirty="0" smtClean="0"/>
          </a:p>
          <a:p>
            <a:pPr lvl="1"/>
            <a:endParaRPr lang="en-US" altLang="zh-CN" sz="1200" dirty="0"/>
          </a:p>
          <a:p>
            <a:pPr lvl="1"/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b="1" dirty="0" smtClean="0"/>
              <a:t>数据库中的例子</a:t>
            </a:r>
            <a:endParaRPr lang="en-US" altLang="zh-CN" sz="1200" b="1" dirty="0"/>
          </a:p>
          <a:p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300644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——GAP</a:t>
            </a:r>
            <a:r>
              <a:rPr lang="zh-CN" altLang="en-US" dirty="0" smtClean="0"/>
              <a:t>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1" dirty="0" smtClean="0"/>
              <a:t>哪些操作会加</a:t>
            </a:r>
            <a:r>
              <a:rPr lang="en-US" altLang="zh-CN" sz="1200" b="1" dirty="0" smtClean="0"/>
              <a:t>GAP</a:t>
            </a:r>
            <a:r>
              <a:rPr lang="zh-CN" altLang="en-US" sz="1200" b="1" dirty="0" smtClean="0"/>
              <a:t>锁？</a:t>
            </a:r>
            <a:endParaRPr lang="en-US" altLang="zh-CN" sz="1200" b="1" dirty="0" smtClean="0"/>
          </a:p>
          <a:p>
            <a:pPr lvl="1"/>
            <a:r>
              <a:rPr lang="en-US" altLang="zh-CN" sz="1200" b="1" dirty="0"/>
              <a:t>Read Committed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RC</a:t>
            </a:r>
            <a:r>
              <a:rPr lang="zh-CN" altLang="en-US" sz="1200" b="1" dirty="0"/>
              <a:t>） </a:t>
            </a:r>
            <a:r>
              <a:rPr lang="zh-CN" altLang="en-US" sz="1200" dirty="0" smtClean="0"/>
              <a:t>：</a:t>
            </a:r>
            <a:r>
              <a:rPr lang="en-US" altLang="zh-CN" sz="1200" dirty="0" smtClean="0"/>
              <a:t>Unique Key</a:t>
            </a:r>
            <a:r>
              <a:rPr lang="zh-CN" altLang="en-US" sz="1200" dirty="0" smtClean="0"/>
              <a:t> 唯一约束检查；</a:t>
            </a:r>
            <a:r>
              <a:rPr lang="en-US" altLang="zh-CN" sz="1200" dirty="0"/>
              <a:t>P</a:t>
            </a:r>
            <a:r>
              <a:rPr lang="en-US" altLang="zh-CN" sz="1200" dirty="0" smtClean="0"/>
              <a:t>urge</a:t>
            </a:r>
            <a:r>
              <a:rPr lang="zh-CN" altLang="en-US" sz="1200" dirty="0" smtClean="0"/>
              <a:t>操作；</a:t>
            </a:r>
            <a:endParaRPr lang="en-US" altLang="zh-CN" sz="1200" dirty="0"/>
          </a:p>
          <a:p>
            <a:pPr lvl="1"/>
            <a:endParaRPr lang="en-US" altLang="zh-CN" sz="1200" dirty="0" smtClean="0"/>
          </a:p>
          <a:p>
            <a:pPr lvl="1"/>
            <a:r>
              <a:rPr lang="en-US" altLang="zh-CN" sz="1200" b="1" dirty="0"/>
              <a:t>Repeatable Read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RR</a:t>
            </a:r>
            <a:r>
              <a:rPr lang="zh-CN" altLang="en-US" sz="1200" b="1" dirty="0"/>
              <a:t>） </a:t>
            </a:r>
            <a:r>
              <a:rPr lang="zh-CN" altLang="en-US" sz="1200" dirty="0" smtClean="0"/>
              <a:t>：</a:t>
            </a:r>
            <a:r>
              <a:rPr lang="en-US" altLang="zh-CN" sz="1200" dirty="0" smtClean="0"/>
              <a:t>RC</a:t>
            </a:r>
            <a:r>
              <a:rPr lang="zh-CN" altLang="en-US" sz="1200" dirty="0" smtClean="0"/>
              <a:t>的基础上，</a:t>
            </a:r>
            <a:r>
              <a:rPr lang="zh-CN" altLang="en-US" sz="1200" dirty="0" smtClean="0">
                <a:solidFill>
                  <a:srgbClr val="FF0000"/>
                </a:solidFill>
              </a:rPr>
              <a:t>所有需要加锁的索引范围扫描（</a:t>
            </a:r>
            <a:r>
              <a:rPr lang="en-US" altLang="zh-CN" sz="1200" dirty="0" smtClean="0">
                <a:solidFill>
                  <a:srgbClr val="FF0000"/>
                </a:solidFill>
              </a:rPr>
              <a:t>Update/Delete…</a:t>
            </a:r>
            <a:r>
              <a:rPr lang="zh-CN" altLang="en-US" sz="1200" dirty="0" smtClean="0">
                <a:solidFill>
                  <a:srgbClr val="FF0000"/>
                </a:solidFill>
              </a:rPr>
              <a:t>）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lvl="1"/>
            <a:endParaRPr lang="en-US" altLang="zh-CN" sz="1200" dirty="0" smtClean="0"/>
          </a:p>
          <a:p>
            <a:pPr lvl="1"/>
            <a:endParaRPr lang="en-US" altLang="zh-CN" sz="1200" b="1" dirty="0"/>
          </a:p>
          <a:p>
            <a:r>
              <a:rPr lang="zh-CN" altLang="en-US" sz="1200" b="1" dirty="0" smtClean="0"/>
              <a:t>原则之二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>
                <a:solidFill>
                  <a:srgbClr val="FF0000"/>
                </a:solidFill>
              </a:rPr>
              <a:t>GAP</a:t>
            </a:r>
            <a:r>
              <a:rPr lang="zh-CN" altLang="en-US" sz="1200" dirty="0" smtClean="0">
                <a:solidFill>
                  <a:srgbClr val="FF0000"/>
                </a:solidFill>
              </a:rPr>
              <a:t>锁很复杂，为了减少</a:t>
            </a:r>
            <a:r>
              <a:rPr lang="en-US" altLang="zh-CN" sz="1200" dirty="0" smtClean="0">
                <a:solidFill>
                  <a:srgbClr val="FF0000"/>
                </a:solidFill>
              </a:rPr>
              <a:t>GAP</a:t>
            </a:r>
            <a:r>
              <a:rPr lang="zh-CN" altLang="en-US" sz="1200" dirty="0" smtClean="0">
                <a:solidFill>
                  <a:srgbClr val="FF0000"/>
                </a:solidFill>
              </a:rPr>
              <a:t>锁，减少</a:t>
            </a:r>
            <a:r>
              <a:rPr lang="en-US" altLang="zh-CN" sz="1200" dirty="0" smtClean="0">
                <a:solidFill>
                  <a:srgbClr val="FF0000"/>
                </a:solidFill>
              </a:rPr>
              <a:t>GAP</a:t>
            </a:r>
            <a:r>
              <a:rPr lang="zh-CN" altLang="en-US" sz="1200" dirty="0" smtClean="0">
                <a:solidFill>
                  <a:srgbClr val="FF0000"/>
                </a:solidFill>
              </a:rPr>
              <a:t>导致的死锁，尽量选择</a:t>
            </a:r>
            <a:r>
              <a:rPr lang="en-US" altLang="zh-CN" sz="1200" dirty="0" smtClean="0">
                <a:solidFill>
                  <a:srgbClr val="FF0000"/>
                </a:solidFill>
              </a:rPr>
              <a:t>Read Committed</a:t>
            </a:r>
            <a:r>
              <a:rPr lang="zh-CN" altLang="en-US" sz="1200" dirty="0" smtClean="0">
                <a:solidFill>
                  <a:srgbClr val="FF0000"/>
                </a:solidFill>
              </a:rPr>
              <a:t>隔离级别</a:t>
            </a:r>
            <a:r>
              <a:rPr lang="zh-CN" altLang="en-US" sz="1200" dirty="0" smtClean="0"/>
              <a:t>（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RC</a:t>
            </a:r>
            <a:r>
              <a:rPr lang="zh-CN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+ row based </a:t>
            </a:r>
            <a:r>
              <a:rPr lang="en-US" altLang="zh-CN" sz="1200" b="1" dirty="0" err="1" smtClean="0">
                <a:solidFill>
                  <a:srgbClr val="FF0000"/>
                </a:solidFill>
              </a:rPr>
              <a:t>binlog</a:t>
            </a:r>
            <a:r>
              <a:rPr lang="zh-CN" altLang="en-US" sz="1200" dirty="0" smtClean="0"/>
              <a:t>，基本上能够解决所有问题，无需使用</a:t>
            </a:r>
            <a:r>
              <a:rPr lang="en-US" altLang="zh-CN" sz="1200" dirty="0" smtClean="0"/>
              <a:t>Repeatable Read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/>
              <a:t>适当</a:t>
            </a:r>
            <a:r>
              <a:rPr lang="zh-CN" altLang="en-US" sz="1200" dirty="0" smtClean="0"/>
              <a:t>的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减少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Unique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索引</a:t>
            </a:r>
            <a:r>
              <a:rPr lang="zh-CN" altLang="en-US" sz="1200" dirty="0" smtClean="0"/>
              <a:t>，能够减少</a:t>
            </a:r>
            <a:r>
              <a:rPr lang="en-US" altLang="zh-CN" sz="1200" dirty="0" smtClean="0"/>
              <a:t>GAP</a:t>
            </a:r>
            <a:r>
              <a:rPr lang="zh-CN" altLang="en-US" sz="1200" dirty="0" smtClean="0"/>
              <a:t>锁导致的死锁（根据业务情况而定）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0989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特殊加锁实现分析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sz="1200" b="1" dirty="0" smtClean="0">
                <a:solidFill>
                  <a:srgbClr val="FF0000"/>
                </a:solidFill>
              </a:rPr>
              <a:t>Q1</a:t>
            </a:r>
            <a:r>
              <a:rPr lang="zh-CN" altLang="en-US" sz="1200" dirty="0" smtClean="0"/>
              <a:t>：在</a:t>
            </a:r>
            <a:r>
              <a:rPr lang="en-US" altLang="zh-CN" sz="1200" dirty="0" smtClean="0"/>
              <a:t>RC</a:t>
            </a:r>
            <a:r>
              <a:rPr lang="zh-CN" altLang="en-US" sz="1200" dirty="0" smtClean="0"/>
              <a:t>隔离级别下，唯一性约束检查，为何需要加</a:t>
            </a:r>
            <a:r>
              <a:rPr lang="en-US" altLang="zh-CN" sz="1200" dirty="0" smtClean="0"/>
              <a:t>Gap</a:t>
            </a:r>
            <a:r>
              <a:rPr lang="zh-CN" altLang="en-US" sz="1200" dirty="0" smtClean="0"/>
              <a:t>锁？</a:t>
            </a:r>
            <a:endParaRPr lang="en-US" altLang="zh-CN" sz="1200" dirty="0" smtClean="0"/>
          </a:p>
          <a:p>
            <a:r>
              <a:rPr lang="zh-CN" altLang="en-US" sz="1200" dirty="0" smtClean="0"/>
              <a:t>解答：</a:t>
            </a:r>
            <a:endParaRPr lang="en-US" altLang="zh-CN" sz="1200" dirty="0" smtClean="0"/>
          </a:p>
          <a:p>
            <a:pPr lvl="1"/>
            <a:r>
              <a:rPr lang="zh-CN" altLang="en-US" sz="1200" b="1" dirty="0" smtClean="0"/>
              <a:t>索引的逻辑删除</a:t>
            </a:r>
            <a:endParaRPr lang="en-US" altLang="zh-CN" sz="1200" b="1" dirty="0" smtClean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 smtClean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 smtClean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 smtClean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 smtClean="0"/>
          </a:p>
          <a:p>
            <a:pPr lvl="1"/>
            <a:endParaRPr lang="en-US" altLang="zh-CN" sz="1200" b="1" dirty="0"/>
          </a:p>
          <a:p>
            <a:endParaRPr lang="en-US" altLang="zh-CN" sz="1200" b="1" dirty="0" smtClean="0"/>
          </a:p>
          <a:p>
            <a:r>
              <a:rPr lang="zh-CN" altLang="en-US" sz="1200" b="1" dirty="0" smtClean="0"/>
              <a:t>追加</a:t>
            </a:r>
            <a:r>
              <a:rPr lang="en-US" altLang="zh-CN" sz="1200" b="1" dirty="0" smtClean="0"/>
              <a:t>Question</a:t>
            </a:r>
          </a:p>
          <a:p>
            <a:pPr lvl="1"/>
            <a:r>
              <a:rPr lang="en-US" altLang="zh-CN" sz="1200" b="1" dirty="0" smtClean="0"/>
              <a:t>1. </a:t>
            </a:r>
            <a:r>
              <a:rPr lang="zh-CN" altLang="en-US" sz="1200" b="1" dirty="0" smtClean="0"/>
              <a:t>为何采用逻辑删除机制？</a:t>
            </a:r>
            <a:endParaRPr lang="en-US" altLang="zh-CN" sz="1200" b="1" dirty="0" smtClean="0"/>
          </a:p>
          <a:p>
            <a:pPr lvl="1"/>
            <a:r>
              <a:rPr lang="en-US" altLang="zh-CN" sz="1200" b="1" dirty="0" smtClean="0"/>
              <a:t>2. </a:t>
            </a:r>
            <a:r>
              <a:rPr lang="zh-CN" altLang="en-US" sz="1200" b="1" dirty="0" smtClean="0"/>
              <a:t>逻辑删除的项，如何物理删除？</a:t>
            </a:r>
            <a:r>
              <a:rPr lang="en-US" altLang="zh-CN" sz="12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Purge </a:t>
            </a:r>
            <a:r>
              <a:rPr lang="zh-CN" altLang="en-US" sz="1200" dirty="0" smtClean="0">
                <a:sym typeface="Wingdings" panose="05000000000000000000" pitchFamily="2" charset="2"/>
              </a:rPr>
              <a:t>（</a:t>
            </a:r>
            <a:r>
              <a:rPr lang="en-US" altLang="zh-CN" sz="1200" dirty="0">
                <a:sym typeface="Wingdings" panose="05000000000000000000" pitchFamily="2" charset="2"/>
              </a:rPr>
              <a:t>https://bugs.mysql.com/bug.php?id=76927</a:t>
            </a:r>
            <a:r>
              <a:rPr lang="zh-CN" altLang="en-US" sz="1200" dirty="0" smtClean="0">
                <a:sym typeface="Wingdings" panose="05000000000000000000" pitchFamily="2" charset="2"/>
              </a:rPr>
              <a:t>）</a:t>
            </a:r>
            <a:endParaRPr lang="en-US" altLang="zh-CN" sz="1200" dirty="0" smtClean="0"/>
          </a:p>
          <a:p>
            <a:pPr lvl="1"/>
            <a:endParaRPr lang="zh-CN" altLang="en-US" sz="1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16" y="1419622"/>
            <a:ext cx="4645195" cy="26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2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篇</a:t>
            </a:r>
            <a:r>
              <a:rPr lang="en-US" altLang="zh-CN" dirty="0"/>
              <a:t>——</a:t>
            </a:r>
            <a:r>
              <a:rPr lang="zh-CN" altLang="en-US" dirty="0"/>
              <a:t>特殊加锁实现分析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Q2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Purge</a:t>
            </a:r>
            <a:r>
              <a:rPr lang="zh-CN" altLang="en-US" dirty="0" smtClean="0"/>
              <a:t>操作是虾米？为啥也要加锁？</a:t>
            </a:r>
            <a:endParaRPr lang="en-US" altLang="zh-CN" dirty="0" smtClean="0"/>
          </a:p>
          <a:p>
            <a:r>
              <a:rPr lang="zh-CN" altLang="en-US" dirty="0" smtClean="0"/>
              <a:t>解答：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1. </a:t>
            </a:r>
            <a:r>
              <a:rPr lang="en-US" altLang="zh-CN" b="1" dirty="0" smtClean="0"/>
              <a:t>Purge</a:t>
            </a:r>
            <a:r>
              <a:rPr lang="zh-CN" altLang="en-US" b="1" dirty="0" smtClean="0"/>
              <a:t>是为了彻底删除标识为</a:t>
            </a:r>
            <a:r>
              <a:rPr lang="en-US" altLang="zh-CN" b="1" dirty="0" smtClean="0"/>
              <a:t>Delete</a:t>
            </a:r>
            <a:r>
              <a:rPr lang="zh-CN" altLang="en-US" b="1" dirty="0" smtClean="0"/>
              <a:t>的项（逻辑删除 </a:t>
            </a:r>
            <a:r>
              <a:rPr lang="en-US" altLang="zh-CN" b="1" dirty="0" smtClean="0">
                <a:sym typeface="Wingdings" panose="05000000000000000000" pitchFamily="2" charset="2"/>
              </a:rPr>
              <a:t> </a:t>
            </a:r>
            <a:r>
              <a:rPr lang="zh-CN" altLang="en-US" b="1" dirty="0" smtClean="0">
                <a:sym typeface="Wingdings" panose="05000000000000000000" pitchFamily="2" charset="2"/>
              </a:rPr>
              <a:t>物理删除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pPr lvl="1"/>
            <a:endParaRPr lang="en-US" altLang="zh-CN" b="1" dirty="0"/>
          </a:p>
          <a:p>
            <a:pPr lvl="1"/>
            <a:r>
              <a:rPr lang="en-US" altLang="zh-CN" dirty="0" smtClean="0"/>
              <a:t>2. Purge</a:t>
            </a:r>
            <a:r>
              <a:rPr lang="zh-CN" altLang="en-US" dirty="0" smtClean="0"/>
              <a:t>本身不加锁，但是也会进来捣乱。把一切搞的乱七八糟 </a:t>
            </a:r>
            <a:r>
              <a:rPr lang="en-US" altLang="zh-CN" dirty="0" smtClean="0"/>
              <a:t>… …</a:t>
            </a:r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7" y="1059582"/>
            <a:ext cx="6001749" cy="369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1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做了</a:t>
            </a:r>
            <a:r>
              <a:rPr lang="zh-CN" altLang="en-US" dirty="0" smtClean="0"/>
              <a:t>这么长的前戏铺垫，就是为了现在的实战演练。本篇内容，挑选了本人过去工作中碰到的一些死锁案例，与大家分享。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如何解读死锁日志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死锁案例</a:t>
            </a:r>
            <a:r>
              <a:rPr lang="en-US" altLang="zh-CN" dirty="0" smtClean="0"/>
              <a:t>123</a:t>
            </a:r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73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解读死锁日志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76" y="1041087"/>
            <a:ext cx="5832648" cy="36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4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/>
              <a:t>实战环境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21" y="1032007"/>
            <a:ext cx="5999415" cy="40166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853" y="1652348"/>
            <a:ext cx="5132812" cy="249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9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死锁事例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最简单</a:t>
            </a:r>
            <a:r>
              <a:rPr lang="zh-CN" altLang="en-US" b="1" dirty="0" smtClean="0"/>
              <a:t>的死锁：</a:t>
            </a:r>
            <a:r>
              <a:rPr lang="en-US" altLang="zh-CN" b="1" dirty="0" smtClean="0"/>
              <a:t>1+1 = 2 </a:t>
            </a:r>
            <a:r>
              <a:rPr lang="zh-CN" altLang="en-US" b="1" dirty="0" smtClean="0">
                <a:sym typeface="Wingdings" panose="05000000000000000000" pitchFamily="2" charset="2"/>
              </a:rPr>
              <a:t></a:t>
            </a:r>
            <a:endParaRPr lang="en-US" altLang="zh-CN" b="1" dirty="0" smtClean="0"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88" y="1063229"/>
            <a:ext cx="5589381" cy="38087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32" y="1491630"/>
            <a:ext cx="6716988" cy="325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1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死锁事例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1" dirty="0" smtClean="0"/>
              <a:t>死锁事例</a:t>
            </a:r>
            <a:r>
              <a:rPr lang="en-US" altLang="zh-CN" sz="1200" b="1" dirty="0" smtClean="0"/>
              <a:t>1</a:t>
            </a:r>
          </a:p>
          <a:p>
            <a:pPr lvl="1"/>
            <a:r>
              <a:rPr lang="zh-CN" altLang="en-US" sz="1200" dirty="0"/>
              <a:t>最</a:t>
            </a:r>
            <a:r>
              <a:rPr lang="zh-CN" altLang="en-US" sz="1200" dirty="0" smtClean="0"/>
              <a:t>简单、最经典的死锁场景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r>
              <a:rPr lang="zh-CN" altLang="en-US" sz="1200" b="1" dirty="0" smtClean="0"/>
              <a:t>两个并发事务</a:t>
            </a:r>
            <a:endParaRPr lang="en-US" altLang="zh-CN" sz="1200" b="1" dirty="0" smtClean="0"/>
          </a:p>
          <a:p>
            <a:pPr lvl="1"/>
            <a:r>
              <a:rPr lang="en-US" altLang="zh-CN" sz="1200" dirty="0" smtClean="0"/>
              <a:t>Session1</a:t>
            </a:r>
            <a:r>
              <a:rPr lang="zh-CN" altLang="en-US" sz="1200" dirty="0" smtClean="0"/>
              <a:t>：</a:t>
            </a:r>
            <a:r>
              <a:rPr lang="en-US" altLang="zh-CN" sz="1200" dirty="0" smtClean="0"/>
              <a:t>							</a:t>
            </a:r>
            <a:r>
              <a:rPr lang="en-US" altLang="zh-CN" sz="1200" dirty="0"/>
              <a:t>Session </a:t>
            </a:r>
            <a:r>
              <a:rPr lang="en-US" altLang="zh-CN" sz="1200" dirty="0" smtClean="0"/>
              <a:t>2</a:t>
            </a:r>
          </a:p>
          <a:p>
            <a:pPr marL="385763" lvl="2" indent="0">
              <a:buNone/>
            </a:pPr>
            <a:r>
              <a:rPr lang="en-US" altLang="zh-CN" sz="1200" dirty="0" smtClean="0"/>
              <a:t>Begin</a:t>
            </a:r>
            <a:r>
              <a:rPr lang="zh-CN" altLang="en-US" sz="1200" dirty="0" smtClean="0"/>
              <a:t>；</a:t>
            </a:r>
            <a:r>
              <a:rPr lang="en-US" altLang="zh-CN" sz="1200" dirty="0" smtClean="0"/>
              <a:t>							</a:t>
            </a:r>
            <a:r>
              <a:rPr lang="en-US" altLang="zh-CN" sz="1200" dirty="0"/>
              <a:t> Begin</a:t>
            </a:r>
            <a:endParaRPr lang="en-US" altLang="zh-CN" sz="1200" dirty="0" smtClean="0"/>
          </a:p>
          <a:p>
            <a:pPr marL="385763" lvl="2" indent="0">
              <a:buNone/>
            </a:pPr>
            <a:r>
              <a:rPr lang="en-US" altLang="zh-CN" sz="1200" dirty="0"/>
              <a:t>select * from </a:t>
            </a:r>
            <a:r>
              <a:rPr lang="en-US" altLang="zh-CN" sz="1200" dirty="0" err="1"/>
              <a:t>tu</a:t>
            </a:r>
            <a:r>
              <a:rPr lang="en-US" altLang="zh-CN" sz="1200" dirty="0"/>
              <a:t> </a:t>
            </a:r>
            <a:r>
              <a:rPr lang="en-US" altLang="zh-CN" sz="1200" dirty="0">
                <a:solidFill>
                  <a:srgbClr val="FF0000"/>
                </a:solidFill>
              </a:rPr>
              <a:t>where id=3</a:t>
            </a:r>
            <a:r>
              <a:rPr lang="en-US" altLang="zh-CN" sz="1200" dirty="0"/>
              <a:t> for update;</a:t>
            </a:r>
            <a:r>
              <a:rPr lang="en-US" altLang="zh-CN" sz="1200" b="1" dirty="0"/>
              <a:t>  </a:t>
            </a:r>
            <a:r>
              <a:rPr lang="en-US" altLang="zh-CN" sz="1200" b="1" dirty="0" smtClean="0"/>
              <a:t>		</a:t>
            </a:r>
            <a:r>
              <a:rPr lang="en-US" altLang="zh-CN" sz="1200" dirty="0"/>
              <a:t> select * from </a:t>
            </a:r>
            <a:r>
              <a:rPr lang="en-US" altLang="zh-CN" sz="1200" dirty="0" err="1"/>
              <a:t>tu</a:t>
            </a:r>
            <a:r>
              <a:rPr lang="en-US" altLang="zh-CN" sz="1200" dirty="0"/>
              <a:t> </a:t>
            </a:r>
            <a:r>
              <a:rPr lang="en-US" altLang="zh-CN" sz="1200" dirty="0">
                <a:solidFill>
                  <a:srgbClr val="00B050"/>
                </a:solidFill>
              </a:rPr>
              <a:t>where id=5</a:t>
            </a:r>
            <a:r>
              <a:rPr lang="en-US" altLang="zh-CN" sz="1200" dirty="0"/>
              <a:t> for update</a:t>
            </a:r>
            <a:endParaRPr lang="en-US" altLang="zh-CN" sz="1200" b="1" dirty="0" smtClean="0"/>
          </a:p>
          <a:p>
            <a:pPr marL="385763" lvl="2" indent="0">
              <a:buNone/>
            </a:pPr>
            <a:r>
              <a:rPr lang="en-US" altLang="zh-CN" sz="1200" dirty="0" smtClean="0"/>
              <a:t>select</a:t>
            </a:r>
            <a:r>
              <a:rPr lang="en-US" altLang="zh-CN" sz="1200" dirty="0"/>
              <a:t> * from </a:t>
            </a:r>
            <a:r>
              <a:rPr lang="en-US" altLang="zh-CN" sz="1200" dirty="0" err="1"/>
              <a:t>tu</a:t>
            </a:r>
            <a:r>
              <a:rPr lang="en-US" altLang="zh-CN" sz="1200" dirty="0"/>
              <a:t> </a:t>
            </a:r>
            <a:r>
              <a:rPr lang="en-US" altLang="zh-CN" sz="1200" dirty="0">
                <a:solidFill>
                  <a:srgbClr val="00B050"/>
                </a:solidFill>
              </a:rPr>
              <a:t>where id=5</a:t>
            </a:r>
            <a:r>
              <a:rPr lang="en-US" altLang="zh-CN" sz="1200" dirty="0"/>
              <a:t> for update;</a:t>
            </a:r>
            <a:r>
              <a:rPr lang="en-US" altLang="zh-CN" sz="1200" b="1" dirty="0"/>
              <a:t> </a:t>
            </a:r>
            <a:r>
              <a:rPr lang="en-US" altLang="zh-CN" sz="1200" b="1" dirty="0" smtClean="0"/>
              <a:t>		</a:t>
            </a:r>
            <a:r>
              <a:rPr lang="en-US" altLang="zh-CN" sz="1200" dirty="0"/>
              <a:t> select * from </a:t>
            </a:r>
            <a:r>
              <a:rPr lang="en-US" altLang="zh-CN" sz="1200" dirty="0" err="1"/>
              <a:t>tu</a:t>
            </a:r>
            <a:r>
              <a:rPr lang="en-US" altLang="zh-CN" sz="1200" dirty="0"/>
              <a:t> </a:t>
            </a:r>
            <a:r>
              <a:rPr lang="en-US" altLang="zh-CN" sz="1200" dirty="0">
                <a:solidFill>
                  <a:srgbClr val="FF0000"/>
                </a:solidFill>
              </a:rPr>
              <a:t>where id=3</a:t>
            </a:r>
            <a:r>
              <a:rPr lang="en-US" altLang="zh-CN" sz="1200" dirty="0"/>
              <a:t> for update</a:t>
            </a:r>
            <a:endParaRPr lang="en-US" altLang="zh-CN" sz="1200" b="1" dirty="0" smtClean="0"/>
          </a:p>
          <a:p>
            <a:pPr marL="385763" lvl="2" indent="0">
              <a:buNone/>
            </a:pPr>
            <a:r>
              <a:rPr lang="en-US" altLang="zh-CN" sz="1200" dirty="0" smtClean="0"/>
              <a:t>Commit</a:t>
            </a:r>
            <a:r>
              <a:rPr lang="zh-CN" altLang="en-US" sz="1200" dirty="0" smtClean="0"/>
              <a:t>；</a:t>
            </a:r>
            <a:r>
              <a:rPr lang="en-US" altLang="zh-CN" sz="1200" dirty="0" smtClean="0"/>
              <a:t>							</a:t>
            </a:r>
            <a:r>
              <a:rPr lang="en-US" altLang="zh-CN" sz="1200" dirty="0"/>
              <a:t> </a:t>
            </a:r>
            <a:r>
              <a:rPr lang="en-US" altLang="zh-CN" sz="1200" dirty="0" smtClean="0"/>
              <a:t>Commit</a:t>
            </a:r>
            <a:r>
              <a:rPr lang="zh-CN" altLang="en-US" sz="1200" dirty="0" smtClean="0"/>
              <a:t>；</a:t>
            </a:r>
            <a:endParaRPr lang="en-US" altLang="zh-CN" sz="1200" dirty="0" smtClean="0"/>
          </a:p>
          <a:p>
            <a:pPr marL="385763" lvl="2" indent="0">
              <a:buNone/>
            </a:pPr>
            <a:endParaRPr lang="en-US" altLang="zh-CN" sz="1200" dirty="0" smtClean="0"/>
          </a:p>
          <a:p>
            <a:pPr marL="385763" lvl="2" indent="0">
              <a:buNone/>
            </a:pPr>
            <a:endParaRPr lang="en-US" altLang="zh-CN" sz="1200" dirty="0"/>
          </a:p>
          <a:p>
            <a:pPr marL="385763" lvl="2" indent="0">
              <a:buNone/>
            </a:pPr>
            <a:endParaRPr lang="en-US" altLang="zh-CN" sz="1200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分析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1200" b="1" dirty="0" smtClean="0"/>
              <a:t>死锁，永远跟加锁顺序相关。事务以相反的顺序操作数据，才会产生死锁。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分析死锁，就是挖掘出这个相反的顺序在哪。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28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死锁事例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回顾一下表结构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56" y="1635646"/>
            <a:ext cx="6199646" cy="300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6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死锁事例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91" y="985185"/>
            <a:ext cx="5774817" cy="38244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2" y="1491630"/>
            <a:ext cx="6038428" cy="29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5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死锁案例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200" b="1" dirty="0"/>
              <a:t>死锁</a:t>
            </a:r>
            <a:r>
              <a:rPr lang="zh-CN" altLang="en-US" sz="1200" b="1" dirty="0" smtClean="0"/>
              <a:t>事例</a:t>
            </a:r>
            <a:r>
              <a:rPr lang="en-US" altLang="zh-CN" sz="1200" b="1" dirty="0" smtClean="0"/>
              <a:t>2</a:t>
            </a:r>
            <a:endParaRPr lang="en-US" altLang="zh-CN" sz="1200" b="1" dirty="0"/>
          </a:p>
          <a:p>
            <a:pPr lvl="1"/>
            <a:r>
              <a:rPr lang="zh-CN" altLang="en-US" sz="1200" dirty="0" smtClean="0"/>
              <a:t>稍微复杂点的情况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zh-CN" altLang="en-US" sz="1200" b="1" dirty="0"/>
              <a:t>两个并发事务</a:t>
            </a:r>
            <a:endParaRPr lang="en-US" altLang="zh-CN" sz="1200" b="1" dirty="0"/>
          </a:p>
          <a:p>
            <a:pPr lvl="1"/>
            <a:r>
              <a:rPr lang="en-US" altLang="zh-CN" sz="1200" dirty="0"/>
              <a:t>Session1</a:t>
            </a:r>
            <a:r>
              <a:rPr lang="zh-CN" altLang="en-US" sz="1200" dirty="0"/>
              <a:t>：</a:t>
            </a:r>
            <a:r>
              <a:rPr lang="en-US" altLang="zh-CN" sz="1200" dirty="0"/>
              <a:t>							Session 2</a:t>
            </a:r>
          </a:p>
          <a:p>
            <a:pPr marL="385763" lvl="2" indent="0">
              <a:buNone/>
            </a:pPr>
            <a:r>
              <a:rPr lang="en-US" altLang="zh-CN" sz="1200" dirty="0" smtClean="0"/>
              <a:t>Update </a:t>
            </a:r>
            <a:r>
              <a:rPr lang="en-US" altLang="zh-CN" sz="1200" dirty="0" err="1" smtClean="0"/>
              <a:t>tu</a:t>
            </a:r>
            <a:r>
              <a:rPr lang="en-US" altLang="zh-CN" sz="1200" dirty="0" smtClean="0"/>
              <a:t> set a = 4 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where u = 3</a:t>
            </a:r>
            <a:r>
              <a:rPr lang="zh-CN" altLang="en-US" sz="1200" dirty="0" smtClean="0"/>
              <a:t>；</a:t>
            </a:r>
            <a:r>
              <a:rPr lang="en-US" altLang="zh-CN" sz="1200" dirty="0"/>
              <a:t>			 </a:t>
            </a:r>
            <a:r>
              <a:rPr lang="en-US" altLang="zh-CN" sz="1200" dirty="0" smtClean="0"/>
              <a:t>update </a:t>
            </a:r>
            <a:r>
              <a:rPr lang="en-US" altLang="zh-CN" sz="1200" dirty="0" err="1" smtClean="0"/>
              <a:t>tu</a:t>
            </a:r>
            <a:r>
              <a:rPr lang="en-US" altLang="zh-CN" sz="1200" dirty="0" smtClean="0"/>
              <a:t> set u = 4 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where a = 3</a:t>
            </a:r>
            <a:r>
              <a:rPr lang="zh-CN" altLang="en-US" sz="1200" dirty="0" smtClean="0"/>
              <a:t>；</a:t>
            </a:r>
            <a:endParaRPr lang="en-US" altLang="zh-CN" sz="1200" dirty="0"/>
          </a:p>
          <a:p>
            <a:pPr marL="385763" lvl="2" indent="0">
              <a:buNone/>
            </a:pPr>
            <a:endParaRPr lang="en-US" altLang="zh-CN" sz="1200" dirty="0"/>
          </a:p>
          <a:p>
            <a:pPr marL="385763" lvl="2" indent="0">
              <a:buNone/>
            </a:pPr>
            <a:endParaRPr lang="en-US" altLang="zh-CN" sz="1200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原则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之三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1200" b="1" dirty="0" smtClean="0">
                <a:solidFill>
                  <a:srgbClr val="FF0000"/>
                </a:solidFill>
              </a:rPr>
              <a:t>在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MySQL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中，以不同索引的过滤条件</a:t>
            </a:r>
            <a:r>
              <a:rPr lang="zh-CN" altLang="en-US" sz="1200" dirty="0" smtClean="0">
                <a:solidFill>
                  <a:srgbClr val="FF0000"/>
                </a:solidFill>
              </a:rPr>
              <a:t>，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来操作相同的记录（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Update/Delete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），很容易产生死锁。</a:t>
            </a:r>
            <a:r>
              <a:rPr lang="zh-CN" altLang="en-US" sz="1200" dirty="0"/>
              <a:t>（例如：如上例所示，执行计划分别走</a:t>
            </a:r>
            <a:r>
              <a:rPr lang="en-US" altLang="zh-CN" sz="1200" dirty="0"/>
              <a:t>u</a:t>
            </a:r>
            <a:r>
              <a:rPr lang="zh-CN" altLang="en-US" sz="1200" dirty="0"/>
              <a:t>和</a:t>
            </a:r>
            <a:r>
              <a:rPr lang="en-US" altLang="zh-CN" sz="1200" dirty="0"/>
              <a:t>a</a:t>
            </a:r>
            <a:r>
              <a:rPr lang="zh-CN" altLang="en-US" sz="1200" dirty="0"/>
              <a:t>索引，但是均操作了</a:t>
            </a:r>
            <a:r>
              <a:rPr lang="en-US" altLang="zh-CN" sz="1200" dirty="0"/>
              <a:t>id = 3</a:t>
            </a:r>
            <a:r>
              <a:rPr lang="zh-CN" altLang="en-US" sz="1200" dirty="0"/>
              <a:t>这一列，产生死锁。）</a:t>
            </a:r>
            <a:endParaRPr lang="zh-CN" altLang="en-US" sz="1200" b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627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死锁案例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200" b="1" dirty="0" smtClean="0"/>
              <a:t>复杂死锁例子（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Gap 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锁闪亮登场</a:t>
            </a:r>
            <a:r>
              <a:rPr lang="zh-CN" altLang="en-US" sz="1200" b="1" dirty="0" smtClean="0"/>
              <a:t>）</a:t>
            </a:r>
            <a:endParaRPr lang="en-US" altLang="zh-CN" sz="1200" b="1" dirty="0" smtClean="0"/>
          </a:p>
          <a:p>
            <a:pPr lvl="1"/>
            <a:endParaRPr lang="en-US" altLang="zh-CN" sz="1200" b="1" dirty="0"/>
          </a:p>
          <a:p>
            <a:r>
              <a:rPr lang="zh-CN" altLang="en-US" sz="1200" b="1" dirty="0" smtClean="0"/>
              <a:t>新的测试环境 </a:t>
            </a:r>
            <a:endParaRPr lang="en-US" altLang="zh-CN" sz="1200" b="1" dirty="0" smtClean="0"/>
          </a:p>
          <a:p>
            <a:r>
              <a:rPr lang="zh-CN" altLang="en-US" sz="1200" b="1" dirty="0"/>
              <a:t>表结构：      </a:t>
            </a:r>
          </a:p>
          <a:p>
            <a:pPr marL="0" indent="0">
              <a:buNone/>
            </a:pPr>
            <a:r>
              <a:rPr lang="en-US" altLang="zh-CN" sz="1200" b="1" dirty="0"/>
              <a:t> </a:t>
            </a:r>
            <a:r>
              <a:rPr lang="en-US" altLang="zh-CN" sz="1200" b="1" dirty="0" smtClean="0"/>
              <a:t>  CREATE </a:t>
            </a:r>
            <a:r>
              <a:rPr lang="en-US" altLang="zh-CN" sz="1200" b="1" dirty="0"/>
              <a:t>TABLE `t` (</a:t>
            </a:r>
          </a:p>
          <a:p>
            <a:pPr marL="0" indent="0">
              <a:buNone/>
            </a:pPr>
            <a:r>
              <a:rPr lang="en-US" altLang="zh-CN" sz="1200" b="1" dirty="0" smtClean="0"/>
              <a:t>	 </a:t>
            </a:r>
            <a:r>
              <a:rPr lang="en-US" altLang="zh-CN" sz="1200" b="1" dirty="0"/>
              <a:t>`c1` </a:t>
            </a:r>
            <a:r>
              <a:rPr lang="en-US" altLang="zh-CN" sz="1200" b="1" dirty="0" err="1"/>
              <a:t>int</a:t>
            </a:r>
            <a:r>
              <a:rPr lang="en-US" altLang="zh-CN" sz="1200" b="1" dirty="0"/>
              <a:t>(11) NOT NULL AUTO_INCREMENT,</a:t>
            </a:r>
          </a:p>
          <a:p>
            <a:pPr marL="0" indent="0">
              <a:buNone/>
            </a:pPr>
            <a:r>
              <a:rPr lang="en-US" altLang="zh-CN" sz="1200" b="1" dirty="0" smtClean="0"/>
              <a:t>	 `</a:t>
            </a:r>
            <a:r>
              <a:rPr lang="en-US" altLang="zh-CN" sz="1200" b="1" dirty="0"/>
              <a:t>c2` </a:t>
            </a:r>
            <a:r>
              <a:rPr lang="en-US" altLang="zh-CN" sz="1200" b="1" dirty="0" err="1"/>
              <a:t>int</a:t>
            </a:r>
            <a:r>
              <a:rPr lang="en-US" altLang="zh-CN" sz="1200" b="1" dirty="0"/>
              <a:t>(11) DEFAULT NULL,</a:t>
            </a:r>
          </a:p>
          <a:p>
            <a:pPr marL="0" indent="0">
              <a:buNone/>
            </a:pPr>
            <a:r>
              <a:rPr lang="en-US" altLang="zh-CN" sz="1200" b="1" dirty="0" smtClean="0"/>
              <a:t>	 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PRIMARY </a:t>
            </a:r>
            <a:r>
              <a:rPr lang="en-US" altLang="zh-CN" sz="1200" b="1" dirty="0">
                <a:solidFill>
                  <a:srgbClr val="FF0000"/>
                </a:solidFill>
              </a:rPr>
              <a:t>KEY (`c1`),</a:t>
            </a:r>
          </a:p>
          <a:p>
            <a:pPr marL="0" indent="0">
              <a:buNone/>
            </a:pPr>
            <a:r>
              <a:rPr lang="en-US" altLang="zh-CN" sz="1200" b="1" dirty="0" smtClean="0">
                <a:solidFill>
                  <a:srgbClr val="FF0000"/>
                </a:solidFill>
              </a:rPr>
              <a:t>	 UNIQUE </a:t>
            </a:r>
            <a:r>
              <a:rPr lang="en-US" altLang="zh-CN" sz="1200" b="1" dirty="0">
                <a:solidFill>
                  <a:srgbClr val="FF0000"/>
                </a:solidFill>
              </a:rPr>
              <a:t>KEY `c2` (`c2`)</a:t>
            </a:r>
          </a:p>
          <a:p>
            <a:pPr marL="0" indent="0">
              <a:buNone/>
            </a:pPr>
            <a:r>
              <a:rPr lang="en-US" altLang="zh-CN" sz="1200" b="1" dirty="0"/>
              <a:t> </a:t>
            </a:r>
            <a:r>
              <a:rPr lang="en-US" altLang="zh-CN" sz="1200" b="1" dirty="0" smtClean="0"/>
              <a:t>    ) </a:t>
            </a:r>
            <a:r>
              <a:rPr lang="en-US" altLang="zh-CN" sz="1200" b="1" dirty="0"/>
              <a:t>ENGINE=</a:t>
            </a:r>
            <a:r>
              <a:rPr lang="en-US" altLang="zh-CN" sz="1200" b="1" dirty="0" err="1"/>
              <a:t>InnoDB</a:t>
            </a:r>
            <a:r>
              <a:rPr lang="en-US" altLang="zh-CN" sz="1200" b="1" dirty="0"/>
              <a:t> AUTO_INCREMENT=10 DEFAULT CHARSET=</a:t>
            </a:r>
            <a:r>
              <a:rPr lang="en-US" altLang="zh-CN" sz="1200" b="1" dirty="0" err="1"/>
              <a:t>gbk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r>
              <a:rPr lang="en-US" altLang="zh-CN" sz="1200" b="1" dirty="0"/>
              <a:t>    SQL</a:t>
            </a:r>
            <a:r>
              <a:rPr lang="zh-CN" altLang="en-US" sz="1200" b="1" dirty="0" smtClean="0"/>
              <a:t>：</a:t>
            </a:r>
            <a:r>
              <a:rPr lang="en-US" altLang="zh-CN" sz="1200" b="1" dirty="0" smtClean="0"/>
              <a:t>T1</a:t>
            </a:r>
            <a:r>
              <a:rPr lang="zh-CN" altLang="en-US" sz="1200" b="1" dirty="0" smtClean="0"/>
              <a:t>、</a:t>
            </a:r>
            <a:r>
              <a:rPr lang="en-US" altLang="zh-CN" sz="1200" b="1" dirty="0" smtClean="0"/>
              <a:t>T2</a:t>
            </a:r>
            <a:r>
              <a:rPr lang="zh-CN" altLang="en-US" sz="1200" b="1" dirty="0" smtClean="0"/>
              <a:t>两个并发事务（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这也会产生死锁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… …???</a:t>
            </a:r>
            <a:r>
              <a:rPr lang="zh-CN" altLang="en-US" sz="1200" b="1" dirty="0" smtClean="0"/>
              <a:t>）</a:t>
            </a:r>
            <a:endParaRPr lang="zh-CN" altLang="en-US" sz="1200" b="1" dirty="0"/>
          </a:p>
          <a:p>
            <a:pPr marL="0" indent="0">
              <a:buNone/>
            </a:pPr>
            <a:r>
              <a:rPr lang="en-US" altLang="zh-CN" sz="1200" b="1" dirty="0" smtClean="0"/>
              <a:t>	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T2</a:t>
            </a:r>
            <a:r>
              <a:rPr lang="en-US" altLang="zh-CN" sz="1200" b="1" dirty="0" smtClean="0"/>
              <a:t>:  </a:t>
            </a:r>
            <a:r>
              <a:rPr lang="en-US" altLang="zh-CN" sz="1200" b="1" dirty="0"/>
              <a:t>insert into t values (</a:t>
            </a:r>
            <a:r>
              <a:rPr lang="en-US" altLang="zh-CN" sz="1200" b="1" dirty="0">
                <a:solidFill>
                  <a:srgbClr val="FF0000"/>
                </a:solidFill>
              </a:rPr>
              <a:t>null,10</a:t>
            </a:r>
            <a:r>
              <a:rPr lang="en-US" altLang="zh-CN" sz="1200" b="1" dirty="0"/>
              <a:t>);</a:t>
            </a:r>
          </a:p>
          <a:p>
            <a:pPr marL="0" indent="0">
              <a:buNone/>
            </a:pPr>
            <a:r>
              <a:rPr lang="en-US" altLang="zh-CN" sz="1200" b="1" dirty="0" smtClean="0"/>
              <a:t>	T1:  </a:t>
            </a:r>
            <a:r>
              <a:rPr lang="en-US" altLang="zh-CN" sz="1200" b="1" dirty="0"/>
              <a:t>insert into t values (null,10);</a:t>
            </a:r>
          </a:p>
          <a:p>
            <a:pPr marL="0" indent="0">
              <a:buNone/>
            </a:pPr>
            <a:r>
              <a:rPr lang="en-US" altLang="zh-CN" sz="1200" b="1" dirty="0" smtClean="0"/>
              <a:t>	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T2</a:t>
            </a:r>
            <a:r>
              <a:rPr lang="en-US" altLang="zh-CN" sz="1200" b="1" dirty="0" smtClean="0"/>
              <a:t>:  </a:t>
            </a:r>
            <a:r>
              <a:rPr lang="en-US" altLang="zh-CN" sz="1200" b="1" dirty="0"/>
              <a:t>insert into t values (</a:t>
            </a:r>
            <a:r>
              <a:rPr lang="en-US" altLang="zh-CN" sz="1200" b="1" dirty="0">
                <a:solidFill>
                  <a:srgbClr val="FF0000"/>
                </a:solidFill>
              </a:rPr>
              <a:t>null,9</a:t>
            </a:r>
            <a:r>
              <a:rPr lang="en-US" altLang="zh-CN" sz="1200" b="1" dirty="0"/>
              <a:t>);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96511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死锁案例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96" y="915566"/>
            <a:ext cx="5472608" cy="40076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2" y="1388079"/>
            <a:ext cx="6107868" cy="334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7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</a:t>
            </a:r>
            <a:r>
              <a:rPr lang="zh-CN" altLang="en-US" dirty="0" smtClean="0"/>
              <a:t>篇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死锁案例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1" dirty="0" smtClean="0"/>
              <a:t>死锁案例</a:t>
            </a:r>
            <a:r>
              <a:rPr lang="en-US" altLang="zh-CN" sz="1200" b="1" dirty="0" smtClean="0"/>
              <a:t>3</a:t>
            </a:r>
          </a:p>
          <a:p>
            <a:pPr lvl="1"/>
            <a:r>
              <a:rPr lang="zh-CN" altLang="en-US" sz="1200" dirty="0" smtClean="0"/>
              <a:t>这是我们线上系统的一个真实案例</a:t>
            </a:r>
            <a:endParaRPr lang="en-US" altLang="zh-CN" sz="1200" dirty="0" smtClean="0"/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/>
              <a:t>简单</a:t>
            </a:r>
            <a:r>
              <a:rPr lang="zh-CN" altLang="en-US" sz="1200" dirty="0" smtClean="0"/>
              <a:t>的并发插入，会出现死锁</a:t>
            </a:r>
            <a:r>
              <a:rPr lang="en-US" altLang="zh-CN" sz="1200" dirty="0" smtClean="0"/>
              <a:t>… …</a:t>
            </a:r>
          </a:p>
          <a:p>
            <a:pPr lvl="1"/>
            <a:endParaRPr lang="en-US" altLang="zh-CN" sz="1200" dirty="0" smtClean="0"/>
          </a:p>
          <a:p>
            <a:pPr lvl="1"/>
            <a:r>
              <a:rPr lang="zh-CN" altLang="en-US" sz="1200" dirty="0" smtClean="0"/>
              <a:t>死锁信息中，出现了</a:t>
            </a:r>
            <a:r>
              <a:rPr lang="en-US" altLang="zh-CN" sz="1200" dirty="0" smtClean="0"/>
              <a:t>Next Key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Gap</a:t>
            </a:r>
            <a:r>
              <a:rPr lang="zh-CN" altLang="en-US" sz="1200" dirty="0" smtClean="0"/>
              <a:t>锁）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r>
              <a:rPr lang="zh-CN" altLang="en-US" sz="1200" b="1" dirty="0" smtClean="0"/>
              <a:t>分析</a:t>
            </a:r>
            <a:endParaRPr lang="en-US" altLang="zh-CN" sz="1200" b="1" dirty="0" smtClean="0"/>
          </a:p>
          <a:p>
            <a:pPr lvl="1"/>
            <a:r>
              <a:rPr lang="zh-CN" altLang="en-US" sz="1200" dirty="0" smtClean="0"/>
              <a:t>在存在</a:t>
            </a:r>
            <a:r>
              <a:rPr lang="en-US" altLang="zh-CN" sz="1200" dirty="0" smtClean="0"/>
              <a:t>Unique</a:t>
            </a:r>
            <a:r>
              <a:rPr lang="zh-CN" altLang="en-US" sz="1200" dirty="0" smtClean="0"/>
              <a:t>索引的表中，比较容易出现由于</a:t>
            </a:r>
            <a:r>
              <a:rPr lang="en-US" altLang="zh-CN" sz="1200" dirty="0" smtClean="0"/>
              <a:t>check unique</a:t>
            </a:r>
            <a:r>
              <a:rPr lang="zh-CN" altLang="en-US" sz="1200" dirty="0" smtClean="0"/>
              <a:t>（唯一性约束检查）而产生的死锁</a:t>
            </a:r>
            <a:endParaRPr lang="en-US" altLang="zh-CN" sz="1200" dirty="0"/>
          </a:p>
          <a:p>
            <a:pPr lvl="1"/>
            <a:endParaRPr lang="en-US" altLang="zh-CN" sz="1200" dirty="0" smtClean="0"/>
          </a:p>
          <a:p>
            <a:r>
              <a:rPr lang="zh-CN" altLang="en-US" sz="1200" b="1" dirty="0" smtClean="0">
                <a:solidFill>
                  <a:srgbClr val="FF0000"/>
                </a:solidFill>
              </a:rPr>
              <a:t>原则之四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1200" dirty="0" smtClean="0"/>
              <a:t>RC</a:t>
            </a:r>
            <a:r>
              <a:rPr lang="zh-CN" altLang="en-US" sz="1200" dirty="0" smtClean="0"/>
              <a:t>隔离级别下，如果死锁中出现</a:t>
            </a:r>
            <a:r>
              <a:rPr lang="en-US" altLang="zh-CN" sz="1200" dirty="0" smtClean="0"/>
              <a:t>Next Key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Gap</a:t>
            </a:r>
            <a:r>
              <a:rPr lang="zh-CN" altLang="en-US" sz="1200" dirty="0" smtClean="0"/>
              <a:t>锁），说明表中一定存在</a:t>
            </a:r>
            <a:r>
              <a:rPr lang="en-US" altLang="zh-CN" sz="1200" dirty="0" smtClean="0"/>
              <a:t>unique</a:t>
            </a:r>
            <a:r>
              <a:rPr lang="zh-CN" altLang="en-US" sz="1200" dirty="0" smtClean="0"/>
              <a:t>索引</a:t>
            </a:r>
            <a:endParaRPr lang="en-US" altLang="zh-CN" sz="1200" dirty="0" smtClean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 smtClean="0"/>
              <a:t>多语句事务产生的死锁，确保每条语句操作记录的顺序性，能够极大减少死锁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104381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实战篇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AliSQL</a:t>
            </a:r>
            <a:r>
              <a:rPr lang="zh-CN" altLang="en-US" dirty="0" smtClean="0"/>
              <a:t>增强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00153"/>
            <a:ext cx="2005980" cy="3394472"/>
          </a:xfrm>
        </p:spPr>
        <p:txBody>
          <a:bodyPr>
            <a:normAutofit/>
          </a:bodyPr>
          <a:lstStyle/>
          <a:p>
            <a:r>
              <a:rPr lang="zh-CN" altLang="en-US" sz="1200" b="1" dirty="0" smtClean="0"/>
              <a:t>死锁分析为什么难？</a:t>
            </a:r>
            <a:endParaRPr lang="en-US" altLang="zh-CN" sz="1200" b="1" dirty="0" smtClean="0"/>
          </a:p>
          <a:p>
            <a:pPr lvl="1"/>
            <a:r>
              <a:rPr lang="zh-CN" altLang="en-US" sz="1200" dirty="0" smtClean="0"/>
              <a:t>理解</a:t>
            </a:r>
            <a:r>
              <a:rPr lang="en-US" altLang="zh-CN" sz="1200" dirty="0" smtClean="0"/>
              <a:t>MySQL</a:t>
            </a:r>
            <a:r>
              <a:rPr lang="zh-CN" altLang="en-US" sz="1200" dirty="0" smtClean="0"/>
              <a:t>的加锁处理逻辑比较难</a:t>
            </a:r>
            <a:endParaRPr lang="en-US" altLang="zh-CN" sz="1200" dirty="0" smtClean="0"/>
          </a:p>
          <a:p>
            <a:pPr lvl="1"/>
            <a:endParaRPr lang="en-US" altLang="zh-CN" sz="1200" dirty="0" smtClean="0"/>
          </a:p>
          <a:p>
            <a:pPr lvl="1"/>
            <a:r>
              <a:rPr lang="en-US" altLang="zh-CN" sz="1200" b="1" dirty="0" smtClean="0">
                <a:solidFill>
                  <a:srgbClr val="FF0000"/>
                </a:solidFill>
              </a:rPr>
              <a:t>MySQL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的死锁日志信息不全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pPr lvl="2"/>
            <a:endParaRPr lang="en-US" altLang="zh-CN" sz="1200" dirty="0" smtClean="0"/>
          </a:p>
          <a:p>
            <a:pPr lvl="2"/>
            <a:endParaRPr lang="en-US" altLang="zh-CN" sz="1200" dirty="0"/>
          </a:p>
          <a:p>
            <a:r>
              <a:rPr lang="en-US" altLang="zh-CN" sz="1200" b="1" dirty="0" err="1" smtClean="0"/>
              <a:t>AliSQL</a:t>
            </a:r>
            <a:r>
              <a:rPr lang="zh-CN" altLang="en-US" sz="1200" b="1" dirty="0" smtClean="0"/>
              <a:t>在这方面有所增强</a:t>
            </a:r>
            <a:endParaRPr lang="en-US" altLang="zh-CN" sz="1200" b="1" dirty="0" smtClean="0"/>
          </a:p>
          <a:p>
            <a:pPr lvl="1"/>
            <a:r>
              <a:rPr lang="zh-CN" altLang="en-US" sz="1200" dirty="0" smtClean="0"/>
              <a:t>打印完整的死锁信息</a:t>
            </a:r>
            <a:endParaRPr lang="en-US" altLang="zh-CN" sz="1200" dirty="0" smtClean="0"/>
          </a:p>
          <a:p>
            <a:pPr lvl="2"/>
            <a:endParaRPr lang="zh-CN" altLang="en-US" sz="1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920" y="843558"/>
            <a:ext cx="3506392" cy="449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6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1200" b="1" dirty="0"/>
              <a:t>原则之一</a:t>
            </a:r>
            <a:endParaRPr lang="en-US" altLang="zh-CN" sz="1200" b="1" dirty="0"/>
          </a:p>
          <a:p>
            <a:pPr lvl="1"/>
            <a:r>
              <a:rPr lang="zh-CN" altLang="en-US" sz="1200" dirty="0"/>
              <a:t>要分析一个死锁，</a:t>
            </a:r>
            <a:r>
              <a:rPr lang="zh-CN" altLang="en-US" sz="1200" dirty="0">
                <a:solidFill>
                  <a:srgbClr val="FF0000"/>
                </a:solidFill>
              </a:rPr>
              <a:t>必须深入业务，了解整个事务的逻辑</a:t>
            </a:r>
            <a:r>
              <a:rPr lang="zh-CN" altLang="en-US" sz="1200" dirty="0"/>
              <a:t>（闭门无法造车）</a:t>
            </a:r>
          </a:p>
          <a:p>
            <a:endParaRPr lang="en-US" altLang="zh-CN" sz="1200" dirty="0" smtClean="0"/>
          </a:p>
          <a:p>
            <a:r>
              <a:rPr lang="zh-CN" altLang="en-US" sz="1200" b="1" dirty="0"/>
              <a:t>原则之二</a:t>
            </a:r>
            <a:endParaRPr lang="en-US" altLang="zh-CN" sz="1200" b="1" dirty="0"/>
          </a:p>
          <a:p>
            <a:pPr lvl="1"/>
            <a:r>
              <a:rPr lang="en-US" altLang="zh-CN" sz="1200" dirty="0">
                <a:solidFill>
                  <a:srgbClr val="FF0000"/>
                </a:solidFill>
              </a:rPr>
              <a:t>GAP</a:t>
            </a:r>
            <a:r>
              <a:rPr lang="zh-CN" altLang="en-US" sz="1200" dirty="0">
                <a:solidFill>
                  <a:srgbClr val="FF0000"/>
                </a:solidFill>
              </a:rPr>
              <a:t>锁很复杂，为了减少</a:t>
            </a:r>
            <a:r>
              <a:rPr lang="en-US" altLang="zh-CN" sz="1200" dirty="0">
                <a:solidFill>
                  <a:srgbClr val="FF0000"/>
                </a:solidFill>
              </a:rPr>
              <a:t>GAP</a:t>
            </a:r>
            <a:r>
              <a:rPr lang="zh-CN" altLang="en-US" sz="1200" dirty="0">
                <a:solidFill>
                  <a:srgbClr val="FF0000"/>
                </a:solidFill>
              </a:rPr>
              <a:t>锁，减少</a:t>
            </a:r>
            <a:r>
              <a:rPr lang="en-US" altLang="zh-CN" sz="1200" dirty="0">
                <a:solidFill>
                  <a:srgbClr val="FF0000"/>
                </a:solidFill>
              </a:rPr>
              <a:t>GAP</a:t>
            </a:r>
            <a:r>
              <a:rPr lang="zh-CN" altLang="en-US" sz="1200" dirty="0">
                <a:solidFill>
                  <a:srgbClr val="FF0000"/>
                </a:solidFill>
              </a:rPr>
              <a:t>导致的死锁，尽量选择</a:t>
            </a:r>
            <a:r>
              <a:rPr lang="en-US" altLang="zh-CN" sz="1200" dirty="0">
                <a:solidFill>
                  <a:srgbClr val="FF0000"/>
                </a:solidFill>
              </a:rPr>
              <a:t>Read Committed</a:t>
            </a:r>
            <a:r>
              <a:rPr lang="zh-CN" altLang="en-US" sz="1200" dirty="0">
                <a:solidFill>
                  <a:srgbClr val="FF0000"/>
                </a:solidFill>
              </a:rPr>
              <a:t>隔离级别</a:t>
            </a:r>
            <a:r>
              <a:rPr lang="zh-CN" altLang="en-US" sz="1200" dirty="0"/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RC</a:t>
            </a:r>
            <a:r>
              <a:rPr lang="zh-CN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</a:rPr>
              <a:t>+ row based </a:t>
            </a:r>
            <a:r>
              <a:rPr lang="en-US" altLang="zh-CN" sz="1200" b="1" dirty="0" err="1">
                <a:solidFill>
                  <a:srgbClr val="FF0000"/>
                </a:solidFill>
              </a:rPr>
              <a:t>binlog</a:t>
            </a:r>
            <a:r>
              <a:rPr lang="zh-CN" altLang="en-US" sz="1200" dirty="0"/>
              <a:t>，基本上能够解决所有问题，无需使用</a:t>
            </a:r>
            <a:r>
              <a:rPr lang="en-US" altLang="zh-CN" sz="1200" dirty="0"/>
              <a:t>Repeatable Read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/>
              <a:t>适当的</a:t>
            </a:r>
            <a:r>
              <a:rPr lang="zh-CN" altLang="en-US" sz="1200" b="1" dirty="0">
                <a:solidFill>
                  <a:srgbClr val="FF0000"/>
                </a:solidFill>
              </a:rPr>
              <a:t>减少</a:t>
            </a:r>
            <a:r>
              <a:rPr lang="en-US" altLang="zh-CN" sz="1200" b="1" dirty="0">
                <a:solidFill>
                  <a:srgbClr val="FF0000"/>
                </a:solidFill>
              </a:rPr>
              <a:t>Unique</a:t>
            </a:r>
            <a:r>
              <a:rPr lang="zh-CN" altLang="en-US" sz="1200" b="1" dirty="0">
                <a:solidFill>
                  <a:srgbClr val="FF0000"/>
                </a:solidFill>
              </a:rPr>
              <a:t>索引</a:t>
            </a:r>
            <a:r>
              <a:rPr lang="zh-CN" altLang="en-US" sz="1200" dirty="0"/>
              <a:t>，能够减少</a:t>
            </a:r>
            <a:r>
              <a:rPr lang="en-US" altLang="zh-CN" sz="1200" dirty="0"/>
              <a:t>GAP</a:t>
            </a:r>
            <a:r>
              <a:rPr lang="zh-CN" altLang="en-US" sz="1200" dirty="0"/>
              <a:t>锁导致的死锁（根据业务情况而定）</a:t>
            </a:r>
          </a:p>
          <a:p>
            <a:endParaRPr lang="en-US" altLang="zh-CN" sz="1200" dirty="0" smtClean="0"/>
          </a:p>
          <a:p>
            <a:r>
              <a:rPr lang="zh-CN" altLang="en-US" sz="1200" b="1" dirty="0" smtClean="0"/>
              <a:t>原则之三</a:t>
            </a:r>
            <a:endParaRPr lang="en-US" altLang="zh-CN" sz="1200" b="1" dirty="0" smtClean="0"/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在</a:t>
            </a:r>
            <a:r>
              <a:rPr lang="en-US" altLang="zh-CN" sz="1200" b="1" dirty="0">
                <a:solidFill>
                  <a:srgbClr val="FF0000"/>
                </a:solidFill>
              </a:rPr>
              <a:t>MySQL</a:t>
            </a:r>
            <a:r>
              <a:rPr lang="zh-CN" altLang="en-US" sz="1200" b="1" dirty="0">
                <a:solidFill>
                  <a:srgbClr val="FF0000"/>
                </a:solidFill>
              </a:rPr>
              <a:t>中，以不同索引的过滤条件</a:t>
            </a:r>
            <a:r>
              <a:rPr lang="zh-CN" altLang="en-US" sz="1200" dirty="0">
                <a:solidFill>
                  <a:srgbClr val="FF0000"/>
                </a:solidFill>
              </a:rPr>
              <a:t>，</a:t>
            </a:r>
            <a:r>
              <a:rPr lang="zh-CN" altLang="en-US" sz="1200" b="1" dirty="0">
                <a:solidFill>
                  <a:srgbClr val="FF0000"/>
                </a:solidFill>
              </a:rPr>
              <a:t>来操作相同的记录（</a:t>
            </a:r>
            <a:r>
              <a:rPr lang="en-US" altLang="zh-CN" sz="1200" b="1" dirty="0">
                <a:solidFill>
                  <a:srgbClr val="FF0000"/>
                </a:solidFill>
              </a:rPr>
              <a:t>Update/Delete</a:t>
            </a:r>
            <a:r>
              <a:rPr lang="zh-CN" altLang="en-US" sz="1200" b="1" dirty="0">
                <a:solidFill>
                  <a:srgbClr val="FF0000"/>
                </a:solidFill>
              </a:rPr>
              <a:t>），很容易产生死锁。</a:t>
            </a:r>
            <a:r>
              <a:rPr lang="zh-CN" altLang="en-US" sz="1200" dirty="0"/>
              <a:t>（例如：如上例所示，执行计划分别走</a:t>
            </a:r>
            <a:r>
              <a:rPr lang="en-US" altLang="zh-CN" sz="1200" dirty="0"/>
              <a:t>u</a:t>
            </a:r>
            <a:r>
              <a:rPr lang="zh-CN" altLang="en-US" sz="1200" dirty="0"/>
              <a:t>和</a:t>
            </a:r>
            <a:r>
              <a:rPr lang="en-US" altLang="zh-CN" sz="1200" dirty="0"/>
              <a:t>a</a:t>
            </a:r>
            <a:r>
              <a:rPr lang="zh-CN" altLang="en-US" sz="1200" dirty="0"/>
              <a:t>索引，但是均操作了</a:t>
            </a:r>
            <a:r>
              <a:rPr lang="en-US" altLang="zh-CN" sz="1200" dirty="0"/>
              <a:t>id = 3</a:t>
            </a:r>
            <a:r>
              <a:rPr lang="zh-CN" altLang="en-US" sz="1200" dirty="0"/>
              <a:t>这一列，产生死锁。）</a:t>
            </a:r>
            <a:endParaRPr lang="zh-CN" altLang="en-US" sz="1200" b="1" dirty="0">
              <a:solidFill>
                <a:srgbClr val="FF0000"/>
              </a:solidFill>
            </a:endParaRPr>
          </a:p>
          <a:p>
            <a:pPr lvl="1"/>
            <a:endParaRPr lang="en-US" altLang="zh-CN" sz="1200" dirty="0" smtClean="0"/>
          </a:p>
          <a:p>
            <a:r>
              <a:rPr lang="zh-CN" altLang="en-US" sz="1200" b="1" dirty="0" smtClean="0"/>
              <a:t>原则之四</a:t>
            </a:r>
            <a:endParaRPr lang="en-US" altLang="zh-CN" sz="1200" b="1" dirty="0" smtClean="0"/>
          </a:p>
          <a:p>
            <a:pPr lvl="1"/>
            <a:r>
              <a:rPr lang="en-US" altLang="zh-CN" sz="1200" dirty="0"/>
              <a:t>RC</a:t>
            </a:r>
            <a:r>
              <a:rPr lang="zh-CN" altLang="en-US" sz="1200" dirty="0"/>
              <a:t>隔离级别下，如果死锁中出现</a:t>
            </a:r>
            <a:r>
              <a:rPr lang="en-US" altLang="zh-CN" sz="1200" dirty="0"/>
              <a:t>Next Key</a:t>
            </a:r>
            <a:r>
              <a:rPr lang="zh-CN" altLang="en-US" sz="1200" dirty="0"/>
              <a:t>（</a:t>
            </a:r>
            <a:r>
              <a:rPr lang="en-US" altLang="zh-CN" sz="1200" dirty="0"/>
              <a:t>Gap</a:t>
            </a:r>
            <a:r>
              <a:rPr lang="zh-CN" altLang="en-US" sz="1200" dirty="0"/>
              <a:t>锁），说明表中一定存在</a:t>
            </a:r>
            <a:r>
              <a:rPr lang="en-US" altLang="zh-CN" sz="1200" dirty="0"/>
              <a:t>unique</a:t>
            </a:r>
            <a:r>
              <a:rPr lang="zh-CN" altLang="en-US" sz="1200" dirty="0"/>
              <a:t>索引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/>
              <a:t>多语句事务产生的死锁，确保每条语句操作记录的顺序性，能够极大减少死锁</a:t>
            </a:r>
            <a:endParaRPr lang="en-US" altLang="zh-CN" sz="1200" dirty="0"/>
          </a:p>
          <a:p>
            <a:pPr lvl="1"/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0765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98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5460</TotalTime>
  <Words>2069</Words>
  <Application>Microsoft Office PowerPoint</Application>
  <PresentationFormat>自定义</PresentationFormat>
  <Paragraphs>378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Hiragino Sans GB W3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目 录</vt:lpstr>
      <vt:lpstr>个人简介</vt:lpstr>
      <vt:lpstr>为什么选择“死锁”</vt:lpstr>
      <vt:lpstr>为什么选择“死锁”</vt:lpstr>
      <vt:lpstr>基础篇</vt:lpstr>
      <vt:lpstr>基础篇——为什么要加锁</vt:lpstr>
      <vt:lpstr>基础篇——锁的持有周期</vt:lpstr>
      <vt:lpstr>基础篇——锁粒度</vt:lpstr>
      <vt:lpstr>基础篇——为什么会产生死锁</vt:lpstr>
      <vt:lpstr>MySQL篇</vt:lpstr>
      <vt:lpstr>MySQL篇——会加锁的操作</vt:lpstr>
      <vt:lpstr>MySQL篇——锁模式</vt:lpstr>
      <vt:lpstr>MySQL篇——锁冲突矩阵</vt:lpstr>
      <vt:lpstr>MySQL篇——操作与加锁的对照关系</vt:lpstr>
      <vt:lpstr>MySQL篇——操作与加锁的对照关系</vt:lpstr>
      <vt:lpstr>MySQL篇——操作与加锁的对照关系</vt:lpstr>
      <vt:lpstr>MySQL篇——操作与加锁的对照关系</vt:lpstr>
      <vt:lpstr>MySQL篇——GAP锁</vt:lpstr>
      <vt:lpstr>MySQL篇——GAP锁</vt:lpstr>
      <vt:lpstr>MySQL篇——特殊加锁实现分析</vt:lpstr>
      <vt:lpstr>MySQL篇——特殊加锁实现分析</vt:lpstr>
      <vt:lpstr>实战篇</vt:lpstr>
      <vt:lpstr>实战篇——解读死锁日志</vt:lpstr>
      <vt:lpstr>实战篇——实战环境</vt:lpstr>
      <vt:lpstr>实战篇——死锁事例1</vt:lpstr>
      <vt:lpstr>实战篇——死锁事例1</vt:lpstr>
      <vt:lpstr>实战篇——死锁事例2</vt:lpstr>
      <vt:lpstr>实战篇——死锁事例2</vt:lpstr>
      <vt:lpstr>实战篇——死锁案例2</vt:lpstr>
      <vt:lpstr>实战篇——死锁案例3</vt:lpstr>
      <vt:lpstr>实战篇——死锁案例3</vt:lpstr>
      <vt:lpstr>实战篇——死锁案例3</vt:lpstr>
      <vt:lpstr>实战篇——AliSQL增强</vt:lpstr>
      <vt:lpstr>总结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任跃婷</dc:creator>
  <cp:lastModifiedBy>圭多</cp:lastModifiedBy>
  <cp:revision>663</cp:revision>
  <dcterms:created xsi:type="dcterms:W3CDTF">2015-09-09T05:06:39Z</dcterms:created>
  <dcterms:modified xsi:type="dcterms:W3CDTF">2015-11-21T09:21:40Z</dcterms:modified>
</cp:coreProperties>
</file>